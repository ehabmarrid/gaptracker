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20" d="100"/>
          <a:sy n="120" d="100"/>
        </p:scale>
        <p:origin x="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F9806A2-D174-443E-8F73-16D35C5FE7B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DFE5E7-EE4C-4AB3-9DF7-2ED2BCF10413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323850" cy="38100"/>
          </a:xfrm>
          <a:prstGeom prst="rect">
            <a:avLst/>
          </a:prstGeom>
          <a:solidFill>
            <a:srgbClr val="E2674A"/>
          </a:solidFill>
          <a:ln w="0">
            <a:solidFill>
              <a:srgbClr val="E267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710FFD-782C-4DC5-AA7E-BA8B3C78FC98}"/>
              </a:ext>
            </a:extLst>
          </p:cNvPr>
          <p:cNvSpPr>
            <a:spLocks noGrp="1"/>
          </p:cNvSpPr>
          <p:nvPr/>
        </p:nvSpPr>
        <p:spPr>
          <a:xfrm>
            <a:off x="1066800" y="400050"/>
            <a:ext cx="3429000" cy="2476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UX RESEARCH MODELS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0808F-D439-47D8-9BCB-D2223C422847}"/>
              </a:ext>
            </a:extLst>
          </p:cNvPr>
          <p:cNvSpPr>
            <a:spLocks noGrp="1"/>
          </p:cNvSpPr>
          <p:nvPr/>
        </p:nvSpPr>
        <p:spPr>
          <a:xfrm>
            <a:off x="609600" y="1143000"/>
            <a:ext cx="7810500" cy="14287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34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GapTracker turns confusion into a managed learning workflow.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05A6B-D6F7-413B-8733-B2A9807F6F65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6572250" cy="7239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D5DEE3"/>
                </a:solidFill>
                <a:latin typeface="Arial"/>
                <a:ea typeface="Arial"/>
                <a:cs typeface="Arial"/>
              </a:defRPr>
            </a:pPr>
            <a:r>
              <a:t>An English model deck based on the UI/UX research: how students detect, define, prioritize, and close academic knowledge gaps.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6805E6D-5545-4BD4-BC65-6868831F7498}"/>
              </a:ext>
            </a:extLst>
          </p:cNvPr>
          <p:cNvSpPr>
            <a:spLocks noGrp="1"/>
          </p:cNvSpPr>
          <p:nvPr/>
        </p:nvSpPr>
        <p:spPr>
          <a:xfrm>
            <a:off x="628650" y="4095750"/>
            <a:ext cx="1352550" cy="400050"/>
          </a:xfrm>
          <a:prstGeom prst="round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Capture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21430FA-1014-438F-97A5-966DE59FCD31}"/>
              </a:ext>
            </a:extLst>
          </p:cNvPr>
          <p:cNvSpPr>
            <a:spLocks noGrp="1"/>
          </p:cNvSpPr>
          <p:nvPr/>
        </p:nvSpPr>
        <p:spPr>
          <a:xfrm>
            <a:off x="2095500" y="4095750"/>
            <a:ext cx="1352550" cy="400050"/>
          </a:xfrm>
          <a:prstGeom prst="round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Context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E7D64C3-21B8-40CD-BD77-2BDB99786A4B}"/>
              </a:ext>
            </a:extLst>
          </p:cNvPr>
          <p:cNvSpPr>
            <a:spLocks noGrp="1"/>
          </p:cNvSpPr>
          <p:nvPr/>
        </p:nvSpPr>
        <p:spPr>
          <a:xfrm>
            <a:off x="3562350" y="4095750"/>
            <a:ext cx="1352550" cy="400050"/>
          </a:xfrm>
          <a:prstGeom prst="roundRect">
            <a:avLst/>
          </a:prstGeom>
          <a:solidFill>
            <a:srgbClr val="D5A11E"/>
          </a:solidFill>
          <a:ln w="0">
            <a:solidFill>
              <a:srgbClr val="D5A11E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Priority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AB0B5C1-4CE2-4A56-8BDA-93B64CD5465E}"/>
              </a:ext>
            </a:extLst>
          </p:cNvPr>
          <p:cNvSpPr>
            <a:spLocks noGrp="1"/>
          </p:cNvSpPr>
          <p:nvPr/>
        </p:nvSpPr>
        <p:spPr>
          <a:xfrm>
            <a:off x="5029200" y="4095750"/>
            <a:ext cx="1352550" cy="400050"/>
          </a:xfrm>
          <a:prstGeom prst="roundRect">
            <a:avLst/>
          </a:prstGeom>
          <a:solidFill>
            <a:srgbClr val="E2674A"/>
          </a:solidFill>
          <a:ln w="0">
            <a:solidFill>
              <a:srgbClr val="E2674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Treatment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0C1A3AB-FD3A-44D4-9833-D8BDFAA0A49D}"/>
              </a:ext>
            </a:extLst>
          </p:cNvPr>
          <p:cNvSpPr>
            <a:spLocks noGrp="1"/>
          </p:cNvSpPr>
          <p:nvPr/>
        </p:nvSpPr>
        <p:spPr>
          <a:xfrm>
            <a:off x="6496050" y="4095750"/>
            <a:ext cx="1352550" cy="400050"/>
          </a:xfrm>
          <a:prstGeom prst="roundRect">
            <a:avLst/>
          </a:prstGeom>
          <a:solidFill>
            <a:srgbClr val="8EB6D6"/>
          </a:solidFill>
          <a:ln w="0">
            <a:solidFill>
              <a:srgbClr val="8EB6D6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Readiness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27DFF2-9CAC-42B9-BF8A-80E53184B769}"/>
              </a:ext>
            </a:extLst>
          </p:cNvPr>
          <p:cNvSpPr>
            <a:spLocks noGrp="1"/>
          </p:cNvSpPr>
          <p:nvPr/>
        </p:nvSpPr>
        <p:spPr>
          <a:xfrm>
            <a:off x="8858250" y="1257300"/>
            <a:ext cx="14288" cy="742950"/>
          </a:xfrm>
          <a:prstGeom prst="rect">
            <a:avLst/>
          </a:prstGeom>
          <a:solidFill>
            <a:srgbClr val="40505D"/>
          </a:solidFill>
          <a:ln w="0">
            <a:solidFill>
              <a:srgbClr val="40505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BEDF2-6CC7-4CF7-BDB9-084AAAA0D2A8}"/>
              </a:ext>
            </a:extLst>
          </p:cNvPr>
          <p:cNvSpPr>
            <a:spLocks noGrp="1"/>
          </p:cNvSpPr>
          <p:nvPr/>
        </p:nvSpPr>
        <p:spPr>
          <a:xfrm>
            <a:off x="9124950" y="1219200"/>
            <a:ext cx="1143000" cy="4381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36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7895C5-1C49-4863-8BDB-8CF51CD0AB99}"/>
              </a:ext>
            </a:extLst>
          </p:cNvPr>
          <p:cNvSpPr>
            <a:spLocks noGrp="1"/>
          </p:cNvSpPr>
          <p:nvPr/>
        </p:nvSpPr>
        <p:spPr>
          <a:xfrm>
            <a:off x="9124950" y="1695450"/>
            <a:ext cx="2000250" cy="3238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B8C4CB"/>
                </a:solidFill>
                <a:latin typeface="Arial"/>
                <a:ea typeface="Arial"/>
                <a:cs typeface="Arial"/>
              </a:defRPr>
            </a:pPr>
            <a:r>
              <a:t>survey respondents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59DE67-B7B1-40B9-B6FE-842D5F666A6D}"/>
              </a:ext>
            </a:extLst>
          </p:cNvPr>
          <p:cNvSpPr>
            <a:spLocks noGrp="1"/>
          </p:cNvSpPr>
          <p:nvPr/>
        </p:nvSpPr>
        <p:spPr>
          <a:xfrm>
            <a:off x="8858250" y="2552700"/>
            <a:ext cx="14288" cy="742950"/>
          </a:xfrm>
          <a:prstGeom prst="rect">
            <a:avLst/>
          </a:prstGeom>
          <a:solidFill>
            <a:srgbClr val="40505D"/>
          </a:solidFill>
          <a:ln w="0">
            <a:solidFill>
              <a:srgbClr val="40505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6B585F-51A6-4888-8E90-F53E6CF39E14}"/>
              </a:ext>
            </a:extLst>
          </p:cNvPr>
          <p:cNvSpPr>
            <a:spLocks noGrp="1"/>
          </p:cNvSpPr>
          <p:nvPr/>
        </p:nvSpPr>
        <p:spPr>
          <a:xfrm>
            <a:off x="9124950" y="2514600"/>
            <a:ext cx="1143000" cy="4381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470760-41AD-465D-B245-790281A05781}"/>
              </a:ext>
            </a:extLst>
          </p:cNvPr>
          <p:cNvSpPr>
            <a:spLocks noGrp="1"/>
          </p:cNvSpPr>
          <p:nvPr/>
        </p:nvSpPr>
        <p:spPr>
          <a:xfrm>
            <a:off x="9124950" y="2990850"/>
            <a:ext cx="2000250" cy="3238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B8C4CB"/>
                </a:solidFill>
                <a:latin typeface="Arial"/>
                <a:ea typeface="Arial"/>
                <a:cs typeface="Arial"/>
              </a:defRPr>
            </a:pPr>
            <a:r>
              <a:t>research personas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7A7074-B6B2-4808-8EB0-87A5E2901606}"/>
              </a:ext>
            </a:extLst>
          </p:cNvPr>
          <p:cNvSpPr>
            <a:spLocks noGrp="1"/>
          </p:cNvSpPr>
          <p:nvPr/>
        </p:nvSpPr>
        <p:spPr>
          <a:xfrm>
            <a:off x="8858250" y="3848100"/>
            <a:ext cx="14288" cy="742950"/>
          </a:xfrm>
          <a:prstGeom prst="rect">
            <a:avLst/>
          </a:prstGeom>
          <a:solidFill>
            <a:srgbClr val="40505D"/>
          </a:solidFill>
          <a:ln w="0">
            <a:solidFill>
              <a:srgbClr val="40505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8E278C-7E32-4727-90E8-957954EE7D81}"/>
              </a:ext>
            </a:extLst>
          </p:cNvPr>
          <p:cNvSpPr>
            <a:spLocks noGrp="1"/>
          </p:cNvSpPr>
          <p:nvPr/>
        </p:nvSpPr>
        <p:spPr>
          <a:xfrm>
            <a:off x="9124950" y="3810000"/>
            <a:ext cx="1143000" cy="4381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3D5A10-76ED-4184-A2EB-BEF2291B7154}"/>
              </a:ext>
            </a:extLst>
          </p:cNvPr>
          <p:cNvSpPr>
            <a:spLocks noGrp="1"/>
          </p:cNvSpPr>
          <p:nvPr/>
        </p:nvSpPr>
        <p:spPr>
          <a:xfrm>
            <a:off x="9124950" y="4286250"/>
            <a:ext cx="2000250" cy="3238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B8C4CB"/>
                </a:solidFill>
                <a:latin typeface="Arial"/>
                <a:ea typeface="Arial"/>
                <a:cs typeface="Arial"/>
              </a:defRPr>
            </a:pPr>
            <a:r>
              <a:t>core product actions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95F768-EA37-4C15-8AB4-49311B7343BC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AEB7BF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1B630D-702D-4E3C-861D-D969692FC28D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AEB7B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82685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1C940F1-2CE3-4B38-B5AB-77FD73EA5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AB768D4-8C1B-40D6-A1E4-24F0892F866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381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D90E77-35C6-4D9B-B2FE-83AD901FD360}"/>
              </a:ext>
            </a:extLst>
          </p:cNvPr>
          <p:cNvSpPr>
            <a:spLocks noGrp="1"/>
          </p:cNvSpPr>
          <p:nvPr/>
        </p:nvSpPr>
        <p:spPr>
          <a:xfrm>
            <a:off x="990600" y="390525"/>
            <a:ext cx="3048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RESEARCH SIGNAL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38E8E0-A27A-443C-BF06-4DFF9730C39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The research shows three failure points before students can recover.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37DA5-47C7-42CA-9571-5185F594FCB0}"/>
              </a:ext>
            </a:extLst>
          </p:cNvPr>
          <p:cNvSpPr>
            <a:spLocks noGrp="1"/>
          </p:cNvSpPr>
          <p:nvPr/>
        </p:nvSpPr>
        <p:spPr>
          <a:xfrm>
            <a:off x="628650" y="1905000"/>
            <a:ext cx="7239000" cy="4191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Survey and interview findings point to the same gap-management breakdown: students notice late, define vaguely, and postpone action.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3B09B4-9786-4019-90B9-956541EE4B26}"/>
              </a:ext>
            </a:extLst>
          </p:cNvPr>
          <p:cNvSpPr>
            <a:spLocks noGrp="1"/>
          </p:cNvSpPr>
          <p:nvPr/>
        </p:nvSpPr>
        <p:spPr>
          <a:xfrm>
            <a:off x="819150" y="2476500"/>
            <a:ext cx="876300" cy="40005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225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64%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299ABA-E608-4FBB-9D0B-ED00C8EBCA26}"/>
              </a:ext>
            </a:extLst>
          </p:cNvPr>
          <p:cNvSpPr>
            <a:spLocks noGrp="1"/>
          </p:cNvSpPr>
          <p:nvPr/>
        </p:nvSpPr>
        <p:spPr>
          <a:xfrm>
            <a:off x="1943100" y="2533650"/>
            <a:ext cx="3238500" cy="3048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Difficulty defining the exact gap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C0944E-3BB3-4C07-BEF9-8370C743D211}"/>
              </a:ext>
            </a:extLst>
          </p:cNvPr>
          <p:cNvSpPr>
            <a:spLocks noGrp="1"/>
          </p:cNvSpPr>
          <p:nvPr/>
        </p:nvSpPr>
        <p:spPr>
          <a:xfrm>
            <a:off x="5334000" y="2590800"/>
            <a:ext cx="4095750" cy="171450"/>
          </a:xfrm>
          <a:prstGeom prst="rect">
            <a:avLst/>
          </a:prstGeom>
          <a:solidFill>
            <a:srgbClr val="DCE5E8"/>
          </a:solidFill>
          <a:ln w="0">
            <a:solidFill>
              <a:srgbClr val="DCE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B83B39-5AAB-436A-8EC3-00191E517187}"/>
              </a:ext>
            </a:extLst>
          </p:cNvPr>
          <p:cNvSpPr>
            <a:spLocks noGrp="1"/>
          </p:cNvSpPr>
          <p:nvPr/>
        </p:nvSpPr>
        <p:spPr>
          <a:xfrm>
            <a:off x="5334000" y="2590800"/>
            <a:ext cx="2621280" cy="171450"/>
          </a:xfrm>
          <a:prstGeom prst="rect">
            <a:avLst/>
          </a:prstGeom>
          <a:solidFill>
            <a:srgbClr val="E2674A"/>
          </a:solidFill>
          <a:ln w="0">
            <a:solidFill>
              <a:srgbClr val="E267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1D561D-45A7-40A4-8FDD-5BEB0C2764C1}"/>
              </a:ext>
            </a:extLst>
          </p:cNvPr>
          <p:cNvSpPr>
            <a:spLocks noGrp="1"/>
          </p:cNvSpPr>
          <p:nvPr/>
        </p:nvSpPr>
        <p:spPr>
          <a:xfrm>
            <a:off x="819150" y="3352800"/>
            <a:ext cx="876300" cy="40005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2250" b="1" i="0">
                <a:solidFill>
                  <a:srgbClr val="D5A11E"/>
                </a:solidFill>
                <a:latin typeface="Arial"/>
                <a:ea typeface="Arial"/>
                <a:cs typeface="Arial"/>
              </a:defRPr>
            </a:pPr>
            <a:r>
              <a:t>53%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4DB2F6-99B7-449F-BDB2-08109408E42C}"/>
              </a:ext>
            </a:extLst>
          </p:cNvPr>
          <p:cNvSpPr>
            <a:spLocks noGrp="1"/>
          </p:cNvSpPr>
          <p:nvPr/>
        </p:nvSpPr>
        <p:spPr>
          <a:xfrm>
            <a:off x="1943100" y="3409950"/>
            <a:ext cx="3238500" cy="3048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Postpone treatment after noticing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D3B190-952F-4152-8795-80901462D393}"/>
              </a:ext>
            </a:extLst>
          </p:cNvPr>
          <p:cNvSpPr>
            <a:spLocks noGrp="1"/>
          </p:cNvSpPr>
          <p:nvPr/>
        </p:nvSpPr>
        <p:spPr>
          <a:xfrm>
            <a:off x="5334000" y="3467100"/>
            <a:ext cx="4095750" cy="171450"/>
          </a:xfrm>
          <a:prstGeom prst="rect">
            <a:avLst/>
          </a:prstGeom>
          <a:solidFill>
            <a:srgbClr val="DCE5E8"/>
          </a:solidFill>
          <a:ln w="0">
            <a:solidFill>
              <a:srgbClr val="DCE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78D55-168A-4A2A-B9B0-26A2498BD1C7}"/>
              </a:ext>
            </a:extLst>
          </p:cNvPr>
          <p:cNvSpPr>
            <a:spLocks noGrp="1"/>
          </p:cNvSpPr>
          <p:nvPr/>
        </p:nvSpPr>
        <p:spPr>
          <a:xfrm>
            <a:off x="5334000" y="3467100"/>
            <a:ext cx="2170748" cy="171450"/>
          </a:xfrm>
          <a:prstGeom prst="rect">
            <a:avLst/>
          </a:prstGeom>
          <a:solidFill>
            <a:srgbClr val="D5A11E"/>
          </a:solidFill>
          <a:ln w="0">
            <a:solidFill>
              <a:srgbClr val="D5A1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68391D-BC86-4E8C-9E4C-7FE3AEC458D8}"/>
              </a:ext>
            </a:extLst>
          </p:cNvPr>
          <p:cNvSpPr>
            <a:spLocks noGrp="1"/>
          </p:cNvSpPr>
          <p:nvPr/>
        </p:nvSpPr>
        <p:spPr>
          <a:xfrm>
            <a:off x="819150" y="4229100"/>
            <a:ext cx="876300" cy="40005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225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44%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7B5A65-A490-4B1A-90BF-B90DB7227423}"/>
              </a:ext>
            </a:extLst>
          </p:cNvPr>
          <p:cNvSpPr>
            <a:spLocks noGrp="1"/>
          </p:cNvSpPr>
          <p:nvPr/>
        </p:nvSpPr>
        <p:spPr>
          <a:xfrm>
            <a:off x="1943100" y="4286250"/>
            <a:ext cx="3238500" cy="3048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Identify gaps mainly during practice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74A056-960D-413B-9ECF-B23360CE1E5E}"/>
              </a:ext>
            </a:extLst>
          </p:cNvPr>
          <p:cNvSpPr>
            <a:spLocks noGrp="1"/>
          </p:cNvSpPr>
          <p:nvPr/>
        </p:nvSpPr>
        <p:spPr>
          <a:xfrm>
            <a:off x="5334000" y="4343400"/>
            <a:ext cx="4095750" cy="171450"/>
          </a:xfrm>
          <a:prstGeom prst="rect">
            <a:avLst/>
          </a:prstGeom>
          <a:solidFill>
            <a:srgbClr val="DCE5E8"/>
          </a:solidFill>
          <a:ln w="0">
            <a:solidFill>
              <a:srgbClr val="DCE5E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58644A-D7B8-4EDA-875B-76B55559811C}"/>
              </a:ext>
            </a:extLst>
          </p:cNvPr>
          <p:cNvSpPr>
            <a:spLocks noGrp="1"/>
          </p:cNvSpPr>
          <p:nvPr/>
        </p:nvSpPr>
        <p:spPr>
          <a:xfrm>
            <a:off x="5334000" y="4343400"/>
            <a:ext cx="1802130" cy="1714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650649E-017D-453E-8498-660E3136B9CA}"/>
              </a:ext>
            </a:extLst>
          </p:cNvPr>
          <p:cNvSpPr>
            <a:spLocks noGrp="1"/>
          </p:cNvSpPr>
          <p:nvPr/>
        </p:nvSpPr>
        <p:spPr>
          <a:xfrm>
            <a:off x="9696450" y="2286000"/>
            <a:ext cx="1485900" cy="2476500"/>
          </a:xfrm>
          <a:prstGeom prst="round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3B670F-AF5D-407A-864D-5031A0496CA2}"/>
              </a:ext>
            </a:extLst>
          </p:cNvPr>
          <p:cNvSpPr>
            <a:spLocks noGrp="1"/>
          </p:cNvSpPr>
          <p:nvPr/>
        </p:nvSpPr>
        <p:spPr>
          <a:xfrm>
            <a:off x="9906000" y="2514600"/>
            <a:ext cx="1066800" cy="2476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Failure model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CD7ADF-F97A-4690-855F-EF5C8ACF87B2}"/>
              </a:ext>
            </a:extLst>
          </p:cNvPr>
          <p:cNvSpPr>
            <a:spLocks noGrp="1"/>
          </p:cNvSpPr>
          <p:nvPr/>
        </p:nvSpPr>
        <p:spPr>
          <a:xfrm>
            <a:off x="9925050" y="3028950"/>
            <a:ext cx="1028700" cy="9144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Detect late</a:t>
            </a:r>
          </a:p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Define poorly</a:t>
            </a:r>
          </a:p>
          <a:p>
            <a:pPr algn="ctr"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Act slowly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A53EEC-ED78-4CAB-980F-6BAB814E88AB}"/>
              </a:ext>
            </a:extLst>
          </p:cNvPr>
          <p:cNvSpPr>
            <a:spLocks noGrp="1"/>
          </p:cNvSpPr>
          <p:nvPr/>
        </p:nvSpPr>
        <p:spPr>
          <a:xfrm>
            <a:off x="9867900" y="4210050"/>
            <a:ext cx="1162050" cy="3238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D5DEE3"/>
                </a:solidFill>
                <a:latin typeface="Arial"/>
                <a:ea typeface="Arial"/>
                <a:cs typeface="Arial"/>
              </a:defRPr>
            </a:pPr>
            <a:r>
              <a:t>Result: exam-time overload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E00CE81-91B2-4CBB-BAF4-A64D18DF324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805564-2E9B-41CC-BFB4-F9E3BAA3D031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87108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EE25217-DB25-4874-A527-27FB359C63D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0D73D8-8906-4F38-BB9F-D0B8E6C31481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381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C4C274-67FF-42B6-B1A3-376701AF842B}"/>
              </a:ext>
            </a:extLst>
          </p:cNvPr>
          <p:cNvSpPr>
            <a:spLocks noGrp="1"/>
          </p:cNvSpPr>
          <p:nvPr/>
        </p:nvSpPr>
        <p:spPr>
          <a:xfrm>
            <a:off x="990600" y="390525"/>
            <a:ext cx="3048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USER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D4F7A6-FEFA-4EE6-97AD-8EC7EE06976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Three users expose one shared need: visible learning status.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10C7E4-E326-466E-A71F-7A1A7990ED3D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3086100" cy="190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4E5B6E-FF2C-4C3E-A492-0378F5ED2587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2381250" cy="381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Dana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69958B-320D-42AF-BC5D-D9A902D1F8EE}"/>
              </a:ext>
            </a:extLst>
          </p:cNvPr>
          <p:cNvSpPr>
            <a:spLocks noGrp="1"/>
          </p:cNvSpPr>
          <p:nvPr/>
        </p:nvSpPr>
        <p:spPr>
          <a:xfrm>
            <a:off x="742950" y="2705100"/>
            <a:ext cx="24765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First-year student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A770A0-667F-416A-A6FD-7523A3187F5D}"/>
              </a:ext>
            </a:extLst>
          </p:cNvPr>
          <p:cNvSpPr>
            <a:spLocks noGrp="1"/>
          </p:cNvSpPr>
          <p:nvPr/>
        </p:nvSpPr>
        <p:spPr>
          <a:xfrm>
            <a:off x="742950" y="3219450"/>
            <a:ext cx="308610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462F24-DDD1-4C04-847C-1F0DC8EBE8E5}"/>
              </a:ext>
            </a:extLst>
          </p:cNvPr>
          <p:cNvSpPr>
            <a:spLocks noGrp="1"/>
          </p:cNvSpPr>
          <p:nvPr/>
        </p:nvSpPr>
        <p:spPr>
          <a:xfrm>
            <a:off x="952500" y="3371850"/>
            <a:ext cx="762000" cy="19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Need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4F8903-FF33-4855-B569-6DACFA90FFD2}"/>
              </a:ext>
            </a:extLst>
          </p:cNvPr>
          <p:cNvSpPr>
            <a:spLocks noGrp="1"/>
          </p:cNvSpPr>
          <p:nvPr/>
        </p:nvSpPr>
        <p:spPr>
          <a:xfrm>
            <a:off x="952500" y="3562350"/>
            <a:ext cx="2571750" cy="381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Needs confidence she did not miss important material.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F7EEA2-4F27-40A2-9FF8-1FEB4B3068BA}"/>
              </a:ext>
            </a:extLst>
          </p:cNvPr>
          <p:cNvSpPr>
            <a:spLocks noGrp="1"/>
          </p:cNvSpPr>
          <p:nvPr/>
        </p:nvSpPr>
        <p:spPr>
          <a:xfrm>
            <a:off x="742950" y="4324350"/>
            <a:ext cx="308610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F2DC5E-BB68-4246-821E-6A620C235BD1}"/>
              </a:ext>
            </a:extLst>
          </p:cNvPr>
          <p:cNvSpPr>
            <a:spLocks noGrp="1"/>
          </p:cNvSpPr>
          <p:nvPr/>
        </p:nvSpPr>
        <p:spPr>
          <a:xfrm>
            <a:off x="952500" y="4476750"/>
            <a:ext cx="1238250" cy="19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Product response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BD3338-7AA9-4434-A210-75BF40502F46}"/>
              </a:ext>
            </a:extLst>
          </p:cNvPr>
          <p:cNvSpPr>
            <a:spLocks noGrp="1"/>
          </p:cNvSpPr>
          <p:nvPr/>
        </p:nvSpPr>
        <p:spPr>
          <a:xfrm>
            <a:off x="952500" y="4705350"/>
            <a:ext cx="2571750" cy="381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Reassurance + organized follow-up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EFB412-46FB-458C-A530-807141DADE0D}"/>
              </a:ext>
            </a:extLst>
          </p:cNvPr>
          <p:cNvSpPr>
            <a:spLocks noGrp="1"/>
          </p:cNvSpPr>
          <p:nvPr/>
        </p:nvSpPr>
        <p:spPr>
          <a:xfrm>
            <a:off x="4381500" y="2095500"/>
            <a:ext cx="3086100" cy="190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34F352-0A7D-4EC8-B66B-20A28830B7D1}"/>
              </a:ext>
            </a:extLst>
          </p:cNvPr>
          <p:cNvSpPr>
            <a:spLocks noGrp="1"/>
          </p:cNvSpPr>
          <p:nvPr/>
        </p:nvSpPr>
        <p:spPr>
          <a:xfrm>
            <a:off x="4381500" y="2266950"/>
            <a:ext cx="2381250" cy="381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Omar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FF2CB6-8F25-415A-B6B6-F236E7B63760}"/>
              </a:ext>
            </a:extLst>
          </p:cNvPr>
          <p:cNvSpPr>
            <a:spLocks noGrp="1"/>
          </p:cNvSpPr>
          <p:nvPr/>
        </p:nvSpPr>
        <p:spPr>
          <a:xfrm>
            <a:off x="4381500" y="2705100"/>
            <a:ext cx="24765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Working student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4CF5B3C-9621-4731-81A5-2D459318824E}"/>
              </a:ext>
            </a:extLst>
          </p:cNvPr>
          <p:cNvSpPr>
            <a:spLocks noGrp="1"/>
          </p:cNvSpPr>
          <p:nvPr/>
        </p:nvSpPr>
        <p:spPr>
          <a:xfrm>
            <a:off x="4381500" y="3219450"/>
            <a:ext cx="308610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60054C-686D-46C2-8832-63F8FFE563A9}"/>
              </a:ext>
            </a:extLst>
          </p:cNvPr>
          <p:cNvSpPr>
            <a:spLocks noGrp="1"/>
          </p:cNvSpPr>
          <p:nvPr/>
        </p:nvSpPr>
        <p:spPr>
          <a:xfrm>
            <a:off x="4591050" y="3371850"/>
            <a:ext cx="762000" cy="19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Need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75A24D-ACEC-4D18-A8EE-226BD9E20A5C}"/>
              </a:ext>
            </a:extLst>
          </p:cNvPr>
          <p:cNvSpPr>
            <a:spLocks noGrp="1"/>
          </p:cNvSpPr>
          <p:nvPr/>
        </p:nvSpPr>
        <p:spPr>
          <a:xfrm>
            <a:off x="4591050" y="3562350"/>
            <a:ext cx="2571750" cy="381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Needs to focus limited study time on critical gaps.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C3B011B-A1AA-428D-9DAF-0C117B2B3EF5}"/>
              </a:ext>
            </a:extLst>
          </p:cNvPr>
          <p:cNvSpPr>
            <a:spLocks noGrp="1"/>
          </p:cNvSpPr>
          <p:nvPr/>
        </p:nvSpPr>
        <p:spPr>
          <a:xfrm>
            <a:off x="4381500" y="4324350"/>
            <a:ext cx="308610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CA0F47-8291-410E-8C06-DDD30B40A780}"/>
              </a:ext>
            </a:extLst>
          </p:cNvPr>
          <p:cNvSpPr>
            <a:spLocks noGrp="1"/>
          </p:cNvSpPr>
          <p:nvPr/>
        </p:nvSpPr>
        <p:spPr>
          <a:xfrm>
            <a:off x="4591050" y="4476750"/>
            <a:ext cx="1238250" cy="19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Product response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764E1E-EC6B-4E9B-8798-B87CA7206ECF}"/>
              </a:ext>
            </a:extLst>
          </p:cNvPr>
          <p:cNvSpPr>
            <a:spLocks noGrp="1"/>
          </p:cNvSpPr>
          <p:nvPr/>
        </p:nvSpPr>
        <p:spPr>
          <a:xfrm>
            <a:off x="4591050" y="4705350"/>
            <a:ext cx="2571750" cy="381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Prioritization + efficient recovery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264812-8399-4321-A088-0B66DFAFDF2A}"/>
              </a:ext>
            </a:extLst>
          </p:cNvPr>
          <p:cNvSpPr>
            <a:spLocks noGrp="1"/>
          </p:cNvSpPr>
          <p:nvPr/>
        </p:nvSpPr>
        <p:spPr>
          <a:xfrm>
            <a:off x="8020050" y="2095500"/>
            <a:ext cx="3086100" cy="19050"/>
          </a:xfrm>
          <a:prstGeom prst="rect">
            <a:avLst/>
          </a:prstGeom>
          <a:solidFill>
            <a:srgbClr val="E2674A"/>
          </a:solidFill>
          <a:ln w="0">
            <a:solidFill>
              <a:srgbClr val="E267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566824-2A3C-4126-9E74-BA3763931206}"/>
              </a:ext>
            </a:extLst>
          </p:cNvPr>
          <p:cNvSpPr>
            <a:spLocks noGrp="1"/>
          </p:cNvSpPr>
          <p:nvPr/>
        </p:nvSpPr>
        <p:spPr>
          <a:xfrm>
            <a:off x="8020050" y="2266950"/>
            <a:ext cx="2381250" cy="381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Ronit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5E354B-FC35-4A33-9FE9-10080BE4FFA7}"/>
              </a:ext>
            </a:extLst>
          </p:cNvPr>
          <p:cNvSpPr>
            <a:spLocks noGrp="1"/>
          </p:cNvSpPr>
          <p:nvPr/>
        </p:nvSpPr>
        <p:spPr>
          <a:xfrm>
            <a:off x="8020050" y="2705100"/>
            <a:ext cx="24765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Teaching assistant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1E250C0-D5E9-4B81-AD85-A6BAE4970844}"/>
              </a:ext>
            </a:extLst>
          </p:cNvPr>
          <p:cNvSpPr>
            <a:spLocks noGrp="1"/>
          </p:cNvSpPr>
          <p:nvPr/>
        </p:nvSpPr>
        <p:spPr>
          <a:xfrm>
            <a:off x="8020050" y="3219450"/>
            <a:ext cx="308610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4002D1-E07C-4F57-A1F1-828691348D79}"/>
              </a:ext>
            </a:extLst>
          </p:cNvPr>
          <p:cNvSpPr>
            <a:spLocks noGrp="1"/>
          </p:cNvSpPr>
          <p:nvPr/>
        </p:nvSpPr>
        <p:spPr>
          <a:xfrm>
            <a:off x="8229600" y="3371850"/>
            <a:ext cx="762000" cy="19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Need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B6C6FB-5AFE-4673-919A-9B25A52EF44B}"/>
              </a:ext>
            </a:extLst>
          </p:cNvPr>
          <p:cNvSpPr>
            <a:spLocks noGrp="1"/>
          </p:cNvSpPr>
          <p:nvPr/>
        </p:nvSpPr>
        <p:spPr>
          <a:xfrm>
            <a:off x="8229600" y="3562350"/>
            <a:ext cx="2571750" cy="381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Needs to understand common class difficulties.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DE741A4-7497-445D-8AE0-7379BB5E413B}"/>
              </a:ext>
            </a:extLst>
          </p:cNvPr>
          <p:cNvSpPr>
            <a:spLocks noGrp="1"/>
          </p:cNvSpPr>
          <p:nvPr/>
        </p:nvSpPr>
        <p:spPr>
          <a:xfrm>
            <a:off x="8020050" y="4324350"/>
            <a:ext cx="3086100" cy="8763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6DEE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BE80496-DCAF-4BCD-B3F0-C5EB8C36EE23}"/>
              </a:ext>
            </a:extLst>
          </p:cNvPr>
          <p:cNvSpPr>
            <a:spLocks noGrp="1"/>
          </p:cNvSpPr>
          <p:nvPr/>
        </p:nvSpPr>
        <p:spPr>
          <a:xfrm>
            <a:off x="8229600" y="4476750"/>
            <a:ext cx="1238250" cy="1905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90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Product response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557BBA-63B9-4616-987E-AA990AEEBD75}"/>
              </a:ext>
            </a:extLst>
          </p:cNvPr>
          <p:cNvSpPr>
            <a:spLocks noGrp="1"/>
          </p:cNvSpPr>
          <p:nvPr/>
        </p:nvSpPr>
        <p:spPr>
          <a:xfrm>
            <a:off x="8229600" y="4705350"/>
            <a:ext cx="2571750" cy="381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Future aggregate learning insight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F3DBC85-1841-4CF8-BACC-545109B61E51}"/>
              </a:ext>
            </a:extLst>
          </p:cNvPr>
          <p:cNvSpPr>
            <a:spLocks noGrp="1"/>
          </p:cNvSpPr>
          <p:nvPr/>
        </p:nvSpPr>
        <p:spPr>
          <a:xfrm>
            <a:off x="2114550" y="5657850"/>
            <a:ext cx="7962900" cy="400050"/>
          </a:xfrm>
          <a:prstGeom prst="round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8EDE66-FABA-4F2B-B0DC-2073DD6ADFB8}"/>
              </a:ext>
            </a:extLst>
          </p:cNvPr>
          <p:cNvSpPr>
            <a:spLocks noGrp="1"/>
          </p:cNvSpPr>
          <p:nvPr/>
        </p:nvSpPr>
        <p:spPr>
          <a:xfrm>
            <a:off x="2381250" y="5753100"/>
            <a:ext cx="7429500" cy="2286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Shared need: private status for unclear, critical, and resolved topics.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85FC08F-D334-4169-B0A3-EC660453A992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D84C022-938F-4E8F-AC48-EC7125AF5982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6021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8EF0D88-C162-4C44-B554-1E61818194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527F52-5BE8-4EEE-8908-88E23886C1A0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381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84C81C-7BF3-45DA-BCD4-7DDC9DA2688D}"/>
              </a:ext>
            </a:extLst>
          </p:cNvPr>
          <p:cNvSpPr>
            <a:spLocks noGrp="1"/>
          </p:cNvSpPr>
          <p:nvPr/>
        </p:nvSpPr>
        <p:spPr>
          <a:xfrm>
            <a:off x="990600" y="390525"/>
            <a:ext cx="3048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JOURNEY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12315-C5A4-4503-B561-09519F0E591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GapTracker changes the moment where understanding usually gets lost.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E091A-2975-4539-B104-715EC3F208B9}"/>
              </a:ext>
            </a:extLst>
          </p:cNvPr>
          <p:cNvSpPr>
            <a:spLocks noGrp="1"/>
          </p:cNvSpPr>
          <p:nvPr/>
        </p:nvSpPr>
        <p:spPr>
          <a:xfrm>
            <a:off x="2552700" y="1924050"/>
            <a:ext cx="1524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Lecture confusion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53AE23-B14F-475F-9F6B-8054B74BC958}"/>
              </a:ext>
            </a:extLst>
          </p:cNvPr>
          <p:cNvSpPr>
            <a:spLocks noGrp="1"/>
          </p:cNvSpPr>
          <p:nvPr/>
        </p:nvSpPr>
        <p:spPr>
          <a:xfrm>
            <a:off x="3219450" y="2247900"/>
            <a:ext cx="190500" cy="14288"/>
          </a:xfrm>
          <a:prstGeom prst="rect">
            <a:avLst/>
          </a:prstGeom>
          <a:solidFill>
            <a:srgbClr val="C9D2D6"/>
          </a:solidFill>
          <a:ln w="0">
            <a:solidFill>
              <a:srgbClr val="C9D2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133733-8970-4DC9-A833-AC00A09AC0C4}"/>
              </a:ext>
            </a:extLst>
          </p:cNvPr>
          <p:cNvSpPr>
            <a:spLocks noGrp="1"/>
          </p:cNvSpPr>
          <p:nvPr/>
        </p:nvSpPr>
        <p:spPr>
          <a:xfrm>
            <a:off x="4743450" y="1924050"/>
            <a:ext cx="1524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Context capture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0C9F6AD-8936-426D-BA13-EAC5B6DEAD50}"/>
              </a:ext>
            </a:extLst>
          </p:cNvPr>
          <p:cNvSpPr>
            <a:spLocks noGrp="1"/>
          </p:cNvSpPr>
          <p:nvPr/>
        </p:nvSpPr>
        <p:spPr>
          <a:xfrm>
            <a:off x="5410200" y="2247900"/>
            <a:ext cx="190500" cy="14288"/>
          </a:xfrm>
          <a:prstGeom prst="rect">
            <a:avLst/>
          </a:prstGeom>
          <a:solidFill>
            <a:srgbClr val="C9D2D6"/>
          </a:solidFill>
          <a:ln w="0">
            <a:solidFill>
              <a:srgbClr val="C9D2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763054-9416-405B-BC26-D51565B2ECA3}"/>
              </a:ext>
            </a:extLst>
          </p:cNvPr>
          <p:cNvSpPr>
            <a:spLocks noGrp="1"/>
          </p:cNvSpPr>
          <p:nvPr/>
        </p:nvSpPr>
        <p:spPr>
          <a:xfrm>
            <a:off x="6934200" y="1924050"/>
            <a:ext cx="1524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Review queue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329831-688A-42C4-90CA-371E642A5AC3}"/>
              </a:ext>
            </a:extLst>
          </p:cNvPr>
          <p:cNvSpPr>
            <a:spLocks noGrp="1"/>
          </p:cNvSpPr>
          <p:nvPr/>
        </p:nvSpPr>
        <p:spPr>
          <a:xfrm>
            <a:off x="7600950" y="2247900"/>
            <a:ext cx="190500" cy="14288"/>
          </a:xfrm>
          <a:prstGeom prst="rect">
            <a:avLst/>
          </a:prstGeom>
          <a:solidFill>
            <a:srgbClr val="C9D2D6"/>
          </a:solidFill>
          <a:ln w="0">
            <a:solidFill>
              <a:srgbClr val="C9D2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5B0EB4-2ABE-4B89-A1A8-004D452AF6C4}"/>
              </a:ext>
            </a:extLst>
          </p:cNvPr>
          <p:cNvSpPr>
            <a:spLocks noGrp="1"/>
          </p:cNvSpPr>
          <p:nvPr/>
        </p:nvSpPr>
        <p:spPr>
          <a:xfrm>
            <a:off x="9124950" y="1924050"/>
            <a:ext cx="1524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Readiness update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3542E5-37AD-40E7-8A14-649FEDF42757}"/>
              </a:ext>
            </a:extLst>
          </p:cNvPr>
          <p:cNvSpPr>
            <a:spLocks noGrp="1"/>
          </p:cNvSpPr>
          <p:nvPr/>
        </p:nvSpPr>
        <p:spPr>
          <a:xfrm>
            <a:off x="9791700" y="2247900"/>
            <a:ext cx="190500" cy="14288"/>
          </a:xfrm>
          <a:prstGeom prst="rect">
            <a:avLst/>
          </a:prstGeom>
          <a:solidFill>
            <a:srgbClr val="C9D2D6"/>
          </a:solidFill>
          <a:ln w="0">
            <a:solidFill>
              <a:srgbClr val="C9D2D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F65E43-A6A4-488E-B87B-94A7D917B804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16383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Without GapTracker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93DEDD-C63F-458B-940B-29A7AF6BA1DE}"/>
              </a:ext>
            </a:extLst>
          </p:cNvPr>
          <p:cNvSpPr>
            <a:spLocks noGrp="1"/>
          </p:cNvSpPr>
          <p:nvPr/>
        </p:nvSpPr>
        <p:spPr>
          <a:xfrm>
            <a:off x="704850" y="4305300"/>
            <a:ext cx="16383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With GapTracker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748BACF-BC5D-4F94-A621-00C6C3E5FFEC}"/>
              </a:ext>
            </a:extLst>
          </p:cNvPr>
          <p:cNvSpPr>
            <a:spLocks noGrp="1"/>
          </p:cNvSpPr>
          <p:nvPr/>
        </p:nvSpPr>
        <p:spPr>
          <a:xfrm>
            <a:off x="2552700" y="2705100"/>
            <a:ext cx="1562100" cy="742950"/>
          </a:xfrm>
          <a:prstGeom prst="roundRect">
            <a:avLst/>
          </a:prstGeom>
          <a:solidFill>
            <a:srgbClr val="FFF8F5"/>
          </a:solidFill>
          <a:ln w="9525">
            <a:solidFill>
              <a:srgbClr val="F0C8B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6050D9-BE1C-469A-A1CE-C387BBE0C069}"/>
              </a:ext>
            </a:extLst>
          </p:cNvPr>
          <p:cNvSpPr>
            <a:spLocks noGrp="1"/>
          </p:cNvSpPr>
          <p:nvPr/>
        </p:nvSpPr>
        <p:spPr>
          <a:xfrm>
            <a:off x="2686050" y="2905125"/>
            <a:ext cx="1295400" cy="342900"/>
          </a:xfrm>
          <a:prstGeom prst="rect">
            <a:avLst/>
          </a:prstGeom>
          <a:solidFill>
            <a:srgbClr val="FFF8F5"/>
          </a:solidFill>
          <a:ln w="0">
            <a:solidFill>
              <a:srgbClr val="FFF8F5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Unclear point stays in memory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51D887-4B96-4500-86DC-414FC8C2BCDC}"/>
              </a:ext>
            </a:extLst>
          </p:cNvPr>
          <p:cNvSpPr>
            <a:spLocks noGrp="1"/>
          </p:cNvSpPr>
          <p:nvPr/>
        </p:nvSpPr>
        <p:spPr>
          <a:xfrm>
            <a:off x="4210050" y="3067050"/>
            <a:ext cx="400050" cy="19050"/>
          </a:xfrm>
          <a:prstGeom prst="rect">
            <a:avLst/>
          </a:prstGeom>
          <a:solidFill>
            <a:srgbClr val="D9B0A6"/>
          </a:solidFill>
          <a:ln w="0">
            <a:solidFill>
              <a:srgbClr val="D9B0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DCE9805-0381-435D-8119-F6F289404DB1}"/>
              </a:ext>
            </a:extLst>
          </p:cNvPr>
          <p:cNvSpPr>
            <a:spLocks noGrp="1"/>
          </p:cNvSpPr>
          <p:nvPr/>
        </p:nvSpPr>
        <p:spPr>
          <a:xfrm>
            <a:off x="4743450" y="2705100"/>
            <a:ext cx="1562100" cy="742950"/>
          </a:xfrm>
          <a:prstGeom prst="roundRect">
            <a:avLst/>
          </a:prstGeom>
          <a:solidFill>
            <a:srgbClr val="FFF8F5"/>
          </a:solidFill>
          <a:ln w="9525">
            <a:solidFill>
              <a:srgbClr val="F0C8B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9C632D6-A978-4ABD-BE2D-D74B8041E9F7}"/>
              </a:ext>
            </a:extLst>
          </p:cNvPr>
          <p:cNvSpPr>
            <a:spLocks noGrp="1"/>
          </p:cNvSpPr>
          <p:nvPr/>
        </p:nvSpPr>
        <p:spPr>
          <a:xfrm>
            <a:off x="4876800" y="2905125"/>
            <a:ext cx="1295400" cy="342900"/>
          </a:xfrm>
          <a:prstGeom prst="rect">
            <a:avLst/>
          </a:prstGeom>
          <a:solidFill>
            <a:srgbClr val="FFF8F5"/>
          </a:solidFill>
          <a:ln w="0">
            <a:solidFill>
              <a:srgbClr val="FFF8F5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Notes are vague or missing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B08670-1269-4F73-9998-19AD3DCC4F26}"/>
              </a:ext>
            </a:extLst>
          </p:cNvPr>
          <p:cNvSpPr>
            <a:spLocks noGrp="1"/>
          </p:cNvSpPr>
          <p:nvPr/>
        </p:nvSpPr>
        <p:spPr>
          <a:xfrm>
            <a:off x="6400800" y="3067050"/>
            <a:ext cx="400050" cy="19050"/>
          </a:xfrm>
          <a:prstGeom prst="rect">
            <a:avLst/>
          </a:prstGeom>
          <a:solidFill>
            <a:srgbClr val="D9B0A6"/>
          </a:solidFill>
          <a:ln w="0">
            <a:solidFill>
              <a:srgbClr val="D9B0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0339F603-0254-4E5B-BC82-B90906A2118A}"/>
              </a:ext>
            </a:extLst>
          </p:cNvPr>
          <p:cNvSpPr>
            <a:spLocks noGrp="1"/>
          </p:cNvSpPr>
          <p:nvPr/>
        </p:nvSpPr>
        <p:spPr>
          <a:xfrm>
            <a:off x="6934200" y="2705100"/>
            <a:ext cx="1562100" cy="742950"/>
          </a:xfrm>
          <a:prstGeom prst="roundRect">
            <a:avLst/>
          </a:prstGeom>
          <a:solidFill>
            <a:srgbClr val="FFF8F5"/>
          </a:solidFill>
          <a:ln w="9525">
            <a:solidFill>
              <a:srgbClr val="F0C8B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13A545-F709-4BC8-94DD-AE2834D89FC9}"/>
              </a:ext>
            </a:extLst>
          </p:cNvPr>
          <p:cNvSpPr>
            <a:spLocks noGrp="1"/>
          </p:cNvSpPr>
          <p:nvPr/>
        </p:nvSpPr>
        <p:spPr>
          <a:xfrm>
            <a:off x="7067550" y="2905125"/>
            <a:ext cx="1295400" cy="342900"/>
          </a:xfrm>
          <a:prstGeom prst="rect">
            <a:avLst/>
          </a:prstGeom>
          <a:solidFill>
            <a:srgbClr val="FFF8F5"/>
          </a:solidFill>
          <a:ln w="0">
            <a:solidFill>
              <a:srgbClr val="FFF8F5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Everything feels equally urgent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A92DF6-0BB1-40DA-956D-38AD75CCAC16}"/>
              </a:ext>
            </a:extLst>
          </p:cNvPr>
          <p:cNvSpPr>
            <a:spLocks noGrp="1"/>
          </p:cNvSpPr>
          <p:nvPr/>
        </p:nvSpPr>
        <p:spPr>
          <a:xfrm>
            <a:off x="8591550" y="3067050"/>
            <a:ext cx="400050" cy="19050"/>
          </a:xfrm>
          <a:prstGeom prst="rect">
            <a:avLst/>
          </a:prstGeom>
          <a:solidFill>
            <a:srgbClr val="D9B0A6"/>
          </a:solidFill>
          <a:ln w="0">
            <a:solidFill>
              <a:srgbClr val="D9B0A6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F83B12B-EF5A-4DF4-9201-95C8404637BB}"/>
              </a:ext>
            </a:extLst>
          </p:cNvPr>
          <p:cNvSpPr>
            <a:spLocks noGrp="1"/>
          </p:cNvSpPr>
          <p:nvPr/>
        </p:nvSpPr>
        <p:spPr>
          <a:xfrm>
            <a:off x="9124950" y="2705100"/>
            <a:ext cx="1562100" cy="742950"/>
          </a:xfrm>
          <a:prstGeom prst="roundRect">
            <a:avLst/>
          </a:prstGeom>
          <a:solidFill>
            <a:srgbClr val="FFF8F5"/>
          </a:solidFill>
          <a:ln w="9525">
            <a:solidFill>
              <a:srgbClr val="F0C8B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9DDDA1-12D9-467C-BE31-D6308B7185D4}"/>
              </a:ext>
            </a:extLst>
          </p:cNvPr>
          <p:cNvSpPr>
            <a:spLocks noGrp="1"/>
          </p:cNvSpPr>
          <p:nvPr/>
        </p:nvSpPr>
        <p:spPr>
          <a:xfrm>
            <a:off x="9258300" y="2905125"/>
            <a:ext cx="1295400" cy="342900"/>
          </a:xfrm>
          <a:prstGeom prst="rect">
            <a:avLst/>
          </a:prstGeom>
          <a:solidFill>
            <a:srgbClr val="FFF8F5"/>
          </a:solidFill>
          <a:ln w="0">
            <a:solidFill>
              <a:srgbClr val="FFF8F5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Stress peaks before exam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E87C3A9-0F66-4343-9B88-23BFA646DC26}"/>
              </a:ext>
            </a:extLst>
          </p:cNvPr>
          <p:cNvSpPr>
            <a:spLocks noGrp="1"/>
          </p:cNvSpPr>
          <p:nvPr/>
        </p:nvSpPr>
        <p:spPr>
          <a:xfrm>
            <a:off x="2552700" y="4229100"/>
            <a:ext cx="1562100" cy="742950"/>
          </a:xfrm>
          <a:prstGeom prst="roundRect">
            <a:avLst/>
          </a:prstGeom>
          <a:solidFill>
            <a:srgbClr val="F2FAFC"/>
          </a:solidFill>
          <a:ln w="9525">
            <a:solidFill>
              <a:srgbClr val="BBD5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C7FB4B1-142B-4AB0-972F-29EF0EB542AD}"/>
              </a:ext>
            </a:extLst>
          </p:cNvPr>
          <p:cNvSpPr>
            <a:spLocks noGrp="1"/>
          </p:cNvSpPr>
          <p:nvPr/>
        </p:nvSpPr>
        <p:spPr>
          <a:xfrm>
            <a:off x="2686050" y="4429125"/>
            <a:ext cx="1295400" cy="342900"/>
          </a:xfrm>
          <a:prstGeom prst="rect">
            <a:avLst/>
          </a:prstGeom>
          <a:solidFill>
            <a:srgbClr val="F2FAFC"/>
          </a:solidFill>
          <a:ln w="0">
            <a:solidFill>
              <a:srgbClr val="F2FAFC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Tap New Gap in seconds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21EB36-C89B-4C33-89DA-CB192692444E}"/>
              </a:ext>
            </a:extLst>
          </p:cNvPr>
          <p:cNvSpPr>
            <a:spLocks noGrp="1"/>
          </p:cNvSpPr>
          <p:nvPr/>
        </p:nvSpPr>
        <p:spPr>
          <a:xfrm>
            <a:off x="4210050" y="4591050"/>
            <a:ext cx="400050" cy="190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764C793-DDB0-4013-9D82-95F1D5368643}"/>
              </a:ext>
            </a:extLst>
          </p:cNvPr>
          <p:cNvSpPr>
            <a:spLocks noGrp="1"/>
          </p:cNvSpPr>
          <p:nvPr/>
        </p:nvSpPr>
        <p:spPr>
          <a:xfrm>
            <a:off x="4743450" y="4229100"/>
            <a:ext cx="1562100" cy="742950"/>
          </a:xfrm>
          <a:prstGeom prst="roundRect">
            <a:avLst/>
          </a:prstGeom>
          <a:solidFill>
            <a:srgbClr val="F2FAFC"/>
          </a:solidFill>
          <a:ln w="9525">
            <a:solidFill>
              <a:srgbClr val="BBD5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48D3A76-F254-4075-9DC0-3DDF290FF1B0}"/>
              </a:ext>
            </a:extLst>
          </p:cNvPr>
          <p:cNvSpPr>
            <a:spLocks noGrp="1"/>
          </p:cNvSpPr>
          <p:nvPr/>
        </p:nvSpPr>
        <p:spPr>
          <a:xfrm>
            <a:off x="4876800" y="4429125"/>
            <a:ext cx="1295400" cy="342900"/>
          </a:xfrm>
          <a:prstGeom prst="rect">
            <a:avLst/>
          </a:prstGeom>
          <a:solidFill>
            <a:srgbClr val="F2FAFC"/>
          </a:solidFill>
          <a:ln w="0">
            <a:solidFill>
              <a:srgbClr val="F2FAFC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Voice/photo + course topic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C19E15E-767F-475B-89D1-8218F8182120}"/>
              </a:ext>
            </a:extLst>
          </p:cNvPr>
          <p:cNvSpPr>
            <a:spLocks noGrp="1"/>
          </p:cNvSpPr>
          <p:nvPr/>
        </p:nvSpPr>
        <p:spPr>
          <a:xfrm>
            <a:off x="6400800" y="4591050"/>
            <a:ext cx="400050" cy="190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52993BE-8B0B-4A01-A405-E392E8810C4E}"/>
              </a:ext>
            </a:extLst>
          </p:cNvPr>
          <p:cNvSpPr>
            <a:spLocks noGrp="1"/>
          </p:cNvSpPr>
          <p:nvPr/>
        </p:nvSpPr>
        <p:spPr>
          <a:xfrm>
            <a:off x="6934200" y="4229100"/>
            <a:ext cx="1562100" cy="742950"/>
          </a:xfrm>
          <a:prstGeom prst="roundRect">
            <a:avLst/>
          </a:prstGeom>
          <a:solidFill>
            <a:srgbClr val="F2FAFC"/>
          </a:solidFill>
          <a:ln w="9525">
            <a:solidFill>
              <a:srgbClr val="BBD5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690AF65-B4BF-4ABD-9939-7433A8A07357}"/>
              </a:ext>
            </a:extLst>
          </p:cNvPr>
          <p:cNvSpPr>
            <a:spLocks noGrp="1"/>
          </p:cNvSpPr>
          <p:nvPr/>
        </p:nvSpPr>
        <p:spPr>
          <a:xfrm>
            <a:off x="7067550" y="4429125"/>
            <a:ext cx="1295400" cy="342900"/>
          </a:xfrm>
          <a:prstGeom prst="rect">
            <a:avLst/>
          </a:prstGeom>
          <a:solidFill>
            <a:srgbClr val="F2FAFC"/>
          </a:solidFill>
          <a:ln w="0">
            <a:solidFill>
              <a:srgbClr val="F2FAFC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Critical gaps rise first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34E2B9-2E56-4164-B364-8ACE2E0F5E04}"/>
              </a:ext>
            </a:extLst>
          </p:cNvPr>
          <p:cNvSpPr>
            <a:spLocks noGrp="1"/>
          </p:cNvSpPr>
          <p:nvPr/>
        </p:nvSpPr>
        <p:spPr>
          <a:xfrm>
            <a:off x="8591550" y="4591050"/>
            <a:ext cx="400050" cy="190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9D282CA-9C72-422E-9057-D0B9C9F9FEA4}"/>
              </a:ext>
            </a:extLst>
          </p:cNvPr>
          <p:cNvSpPr>
            <a:spLocks noGrp="1"/>
          </p:cNvSpPr>
          <p:nvPr/>
        </p:nvSpPr>
        <p:spPr>
          <a:xfrm>
            <a:off x="9124950" y="4229100"/>
            <a:ext cx="1562100" cy="742950"/>
          </a:xfrm>
          <a:prstGeom prst="roundRect">
            <a:avLst/>
          </a:prstGeom>
          <a:solidFill>
            <a:srgbClr val="F2FAFC"/>
          </a:solidFill>
          <a:ln w="9525">
            <a:solidFill>
              <a:srgbClr val="BBD5E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F58671-5622-4613-9978-5F48418FDC74}"/>
              </a:ext>
            </a:extLst>
          </p:cNvPr>
          <p:cNvSpPr>
            <a:spLocks noGrp="1"/>
          </p:cNvSpPr>
          <p:nvPr/>
        </p:nvSpPr>
        <p:spPr>
          <a:xfrm>
            <a:off x="9258300" y="4429125"/>
            <a:ext cx="1295400" cy="342900"/>
          </a:xfrm>
          <a:prstGeom prst="rect">
            <a:avLst/>
          </a:prstGeom>
          <a:solidFill>
            <a:srgbClr val="F2FAFC"/>
          </a:solidFill>
          <a:ln w="0">
            <a:solidFill>
              <a:srgbClr val="F2FAFC"/>
            </a:solidFill>
            <a:prstDash val="solid"/>
          </a:ln>
        </p:spPr>
        <p:txBody>
          <a:bodyPr anchor="ctr"/>
          <a:lstStyle/>
          <a:p>
            <a:pPr algn="ctr">
              <a:defRPr sz="11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Completed gaps raise readiness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907D982E-8B7C-4F19-82B7-45C63EA87BAB}"/>
              </a:ext>
            </a:extLst>
          </p:cNvPr>
          <p:cNvSpPr>
            <a:spLocks noGrp="1"/>
          </p:cNvSpPr>
          <p:nvPr/>
        </p:nvSpPr>
        <p:spPr>
          <a:xfrm>
            <a:off x="9353550" y="5143500"/>
            <a:ext cx="1695450" cy="685800"/>
          </a:xfrm>
          <a:prstGeom prst="round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F12310-161D-42F3-9E3D-390E64F7DFF3}"/>
              </a:ext>
            </a:extLst>
          </p:cNvPr>
          <p:cNvSpPr>
            <a:spLocks noGrp="1"/>
          </p:cNvSpPr>
          <p:nvPr/>
        </p:nvSpPr>
        <p:spPr>
          <a:xfrm>
            <a:off x="9525000" y="5295900"/>
            <a:ext cx="1352550" cy="38100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 anchor="t"/>
          <a:lstStyle/>
          <a:p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Outcome: earlier recovery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1504083-7AE2-496D-828B-7D5406719D95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63CAF47-B9F9-47C2-90DA-99DD304E5B7B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05935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8CF45B3A-F13B-4C4A-A69C-EC3F6A040D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E13C77-9D1A-4707-8652-8387D02AC1C5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381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EFB661-1197-423D-AB04-A096599A02E4}"/>
              </a:ext>
            </a:extLst>
          </p:cNvPr>
          <p:cNvSpPr>
            <a:spLocks noGrp="1"/>
          </p:cNvSpPr>
          <p:nvPr/>
        </p:nvSpPr>
        <p:spPr>
          <a:xfrm>
            <a:off x="990600" y="390525"/>
            <a:ext cx="3048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PRODUCT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1DB9B-FA67-4565-A963-58AB04C7F8F5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7239000" cy="51435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A learning gap is the core product object.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3EC3002-95AB-4F99-81A5-938F1D82CB87}"/>
              </a:ext>
            </a:extLst>
          </p:cNvPr>
          <p:cNvSpPr>
            <a:spLocks noGrp="1"/>
          </p:cNvSpPr>
          <p:nvPr/>
        </p:nvSpPr>
        <p:spPr>
          <a:xfrm>
            <a:off x="4476750" y="2381250"/>
            <a:ext cx="3238500" cy="1581150"/>
          </a:xfrm>
          <a:prstGeom prst="round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D6E3C8-EC95-4511-A0EB-515C2123EDCF}"/>
              </a:ext>
            </a:extLst>
          </p:cNvPr>
          <p:cNvSpPr>
            <a:spLocks noGrp="1"/>
          </p:cNvSpPr>
          <p:nvPr/>
        </p:nvSpPr>
        <p:spPr>
          <a:xfrm>
            <a:off x="4819650" y="2609850"/>
            <a:ext cx="2552700" cy="3238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Gap object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0A8484-8448-43FA-BBB6-70509DAECABA}"/>
              </a:ext>
            </a:extLst>
          </p:cNvPr>
          <p:cNvSpPr>
            <a:spLocks noGrp="1"/>
          </p:cNvSpPr>
          <p:nvPr/>
        </p:nvSpPr>
        <p:spPr>
          <a:xfrm>
            <a:off x="4857750" y="3028950"/>
            <a:ext cx="2476500" cy="4191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ctr">
              <a:defRPr sz="1200" b="0" i="0">
                <a:solidFill>
                  <a:srgbClr val="D5DEE3"/>
                </a:solidFill>
                <a:latin typeface="Arial"/>
                <a:ea typeface="Arial"/>
                <a:cs typeface="Arial"/>
              </a:defRPr>
            </a:pPr>
            <a:r>
              <a:t>course | topic | evidence | priority | status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0E389E-69B5-42B2-97F5-9B399F9AECDB}"/>
              </a:ext>
            </a:extLst>
          </p:cNvPr>
          <p:cNvSpPr>
            <a:spLocks noGrp="1"/>
          </p:cNvSpPr>
          <p:nvPr/>
        </p:nvSpPr>
        <p:spPr>
          <a:xfrm>
            <a:off x="4953000" y="3486150"/>
            <a:ext cx="2286000" cy="3238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B9C5CC"/>
                </a:solidFill>
                <a:latin typeface="Arial"/>
                <a:ea typeface="Arial"/>
                <a:cs typeface="Arial"/>
              </a:defRPr>
            </a:pPr>
            <a:r>
              <a:t>This object keeps the academic meaning attached to the action.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593D53E-F26D-4E3A-B42C-1C87D8DDF405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1581150" cy="742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6E4F4A-DBF1-41B7-93A4-82C481B1A047}"/>
              </a:ext>
            </a:extLst>
          </p:cNvPr>
          <p:cNvSpPr>
            <a:spLocks noGrp="1"/>
          </p:cNvSpPr>
          <p:nvPr/>
        </p:nvSpPr>
        <p:spPr>
          <a:xfrm>
            <a:off x="1123950" y="2686050"/>
            <a:ext cx="1314450" cy="209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New Gap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FD4EA71-4D40-4FFA-8D74-F126E958E07C}"/>
              </a:ext>
            </a:extLst>
          </p:cNvPr>
          <p:cNvSpPr>
            <a:spLocks noGrp="1"/>
          </p:cNvSpPr>
          <p:nvPr/>
        </p:nvSpPr>
        <p:spPr>
          <a:xfrm>
            <a:off x="1123950" y="2933700"/>
            <a:ext cx="131445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one-tap capture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C335B89-2A05-473B-A46A-8BC0E8E86428}"/>
              </a:ext>
            </a:extLst>
          </p:cNvPr>
          <p:cNvSpPr>
            <a:spLocks noGrp="1"/>
          </p:cNvSpPr>
          <p:nvPr/>
        </p:nvSpPr>
        <p:spPr>
          <a:xfrm>
            <a:off x="2819400" y="1257300"/>
            <a:ext cx="1581150" cy="742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20041BD-6AC6-4332-B8D5-8FA9A4A1D3B7}"/>
              </a:ext>
            </a:extLst>
          </p:cNvPr>
          <p:cNvSpPr>
            <a:spLocks noGrp="1"/>
          </p:cNvSpPr>
          <p:nvPr/>
        </p:nvSpPr>
        <p:spPr>
          <a:xfrm>
            <a:off x="2952750" y="1409700"/>
            <a:ext cx="1314450" cy="209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483EB5-083F-4374-A993-C6F8A2C73F47}"/>
              </a:ext>
            </a:extLst>
          </p:cNvPr>
          <p:cNvSpPr>
            <a:spLocks noGrp="1"/>
          </p:cNvSpPr>
          <p:nvPr/>
        </p:nvSpPr>
        <p:spPr>
          <a:xfrm>
            <a:off x="2952750" y="1657350"/>
            <a:ext cx="131445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voice or photo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8C7634A-E954-4504-86EC-EE4D11D86BB6}"/>
              </a:ext>
            </a:extLst>
          </p:cNvPr>
          <p:cNvSpPr>
            <a:spLocks noGrp="1"/>
          </p:cNvSpPr>
          <p:nvPr/>
        </p:nvSpPr>
        <p:spPr>
          <a:xfrm>
            <a:off x="8172450" y="1257300"/>
            <a:ext cx="1581150" cy="742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CBC0A5-6666-4BDD-9A36-BC5DCBE289FA}"/>
              </a:ext>
            </a:extLst>
          </p:cNvPr>
          <p:cNvSpPr>
            <a:spLocks noGrp="1"/>
          </p:cNvSpPr>
          <p:nvPr/>
        </p:nvSpPr>
        <p:spPr>
          <a:xfrm>
            <a:off x="8305800" y="1409700"/>
            <a:ext cx="1314450" cy="209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Course / Topic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BDAFD3-63F6-453B-818D-CCAFD4ED878E}"/>
              </a:ext>
            </a:extLst>
          </p:cNvPr>
          <p:cNvSpPr>
            <a:spLocks noGrp="1"/>
          </p:cNvSpPr>
          <p:nvPr/>
        </p:nvSpPr>
        <p:spPr>
          <a:xfrm>
            <a:off x="8305800" y="1657350"/>
            <a:ext cx="131445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learning context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FE6E1E-5635-4C74-A89C-4C11874A6ECC}"/>
              </a:ext>
            </a:extLst>
          </p:cNvPr>
          <p:cNvSpPr>
            <a:spLocks noGrp="1"/>
          </p:cNvSpPr>
          <p:nvPr/>
        </p:nvSpPr>
        <p:spPr>
          <a:xfrm>
            <a:off x="9620250" y="2533650"/>
            <a:ext cx="1581150" cy="742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A1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08EE8A-D657-488B-A902-99C385A03504}"/>
              </a:ext>
            </a:extLst>
          </p:cNvPr>
          <p:cNvSpPr>
            <a:spLocks noGrp="1"/>
          </p:cNvSpPr>
          <p:nvPr/>
        </p:nvSpPr>
        <p:spPr>
          <a:xfrm>
            <a:off x="9753600" y="2686050"/>
            <a:ext cx="1314450" cy="209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D5A11E"/>
                </a:solidFill>
                <a:latin typeface="Arial"/>
                <a:ea typeface="Arial"/>
                <a:cs typeface="Arial"/>
              </a:defRPr>
            </a:pPr>
            <a:r>
              <a:t>Critical Signal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538E65-6846-42D8-8B08-5CC5B585DC33}"/>
              </a:ext>
            </a:extLst>
          </p:cNvPr>
          <p:cNvSpPr>
            <a:spLocks noGrp="1"/>
          </p:cNvSpPr>
          <p:nvPr/>
        </p:nvSpPr>
        <p:spPr>
          <a:xfrm>
            <a:off x="9753600" y="2933700"/>
            <a:ext cx="131445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exam impact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C1C959F-17C8-4C7B-BE35-8E72A5744C24}"/>
              </a:ext>
            </a:extLst>
          </p:cNvPr>
          <p:cNvSpPr>
            <a:spLocks noGrp="1"/>
          </p:cNvSpPr>
          <p:nvPr/>
        </p:nvSpPr>
        <p:spPr>
          <a:xfrm>
            <a:off x="8172450" y="4552950"/>
            <a:ext cx="1581150" cy="742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7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C9C40E-925F-411F-951E-72F5209F2BC2}"/>
              </a:ext>
            </a:extLst>
          </p:cNvPr>
          <p:cNvSpPr>
            <a:spLocks noGrp="1"/>
          </p:cNvSpPr>
          <p:nvPr/>
        </p:nvSpPr>
        <p:spPr>
          <a:xfrm>
            <a:off x="8305800" y="4705350"/>
            <a:ext cx="1314450" cy="209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Treatment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459863-3C59-4660-A79B-1907BEA3AC23}"/>
              </a:ext>
            </a:extLst>
          </p:cNvPr>
          <p:cNvSpPr>
            <a:spLocks noGrp="1"/>
          </p:cNvSpPr>
          <p:nvPr/>
        </p:nvSpPr>
        <p:spPr>
          <a:xfrm>
            <a:off x="8305800" y="4953000"/>
            <a:ext cx="131445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study action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6143511-F100-4353-A44C-75113CDBDA7D}"/>
              </a:ext>
            </a:extLst>
          </p:cNvPr>
          <p:cNvSpPr>
            <a:spLocks noGrp="1"/>
          </p:cNvSpPr>
          <p:nvPr/>
        </p:nvSpPr>
        <p:spPr>
          <a:xfrm>
            <a:off x="2819400" y="4552950"/>
            <a:ext cx="1581150" cy="7429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B806A1-6C60-4F8B-833D-977956458DCB}"/>
              </a:ext>
            </a:extLst>
          </p:cNvPr>
          <p:cNvSpPr>
            <a:spLocks noGrp="1"/>
          </p:cNvSpPr>
          <p:nvPr/>
        </p:nvSpPr>
        <p:spPr>
          <a:xfrm>
            <a:off x="2952750" y="4705350"/>
            <a:ext cx="1314450" cy="2095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75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Readiness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0DE9C2-6B10-49EB-BBC3-19AF31B575B2}"/>
              </a:ext>
            </a:extLst>
          </p:cNvPr>
          <p:cNvSpPr>
            <a:spLocks noGrp="1"/>
          </p:cNvSpPr>
          <p:nvPr/>
        </p:nvSpPr>
        <p:spPr>
          <a:xfrm>
            <a:off x="2952750" y="4953000"/>
            <a:ext cx="1314450" cy="1714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dashboard update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A14B01A-6752-4F6F-84FB-FC62B95A261A}"/>
              </a:ext>
            </a:extLst>
          </p:cNvPr>
          <p:cNvSpPr>
            <a:spLocks noGrp="1"/>
          </p:cNvSpPr>
          <p:nvPr/>
        </p:nvSpPr>
        <p:spPr>
          <a:xfrm>
            <a:off x="2571750" y="2895600"/>
            <a:ext cx="1905000" cy="190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E7BF71-8226-4E07-85E6-926A15ED8E96}"/>
              </a:ext>
            </a:extLst>
          </p:cNvPr>
          <p:cNvSpPr>
            <a:spLocks noGrp="1"/>
          </p:cNvSpPr>
          <p:nvPr/>
        </p:nvSpPr>
        <p:spPr>
          <a:xfrm>
            <a:off x="4400550" y="1619250"/>
            <a:ext cx="742950" cy="190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20C16F-157F-4A56-9E7F-24D66387F35A}"/>
              </a:ext>
            </a:extLst>
          </p:cNvPr>
          <p:cNvSpPr>
            <a:spLocks noGrp="1"/>
          </p:cNvSpPr>
          <p:nvPr/>
        </p:nvSpPr>
        <p:spPr>
          <a:xfrm>
            <a:off x="5143500" y="1619250"/>
            <a:ext cx="19050" cy="76200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547D07-7F8B-452E-87AF-6C8F22262931}"/>
              </a:ext>
            </a:extLst>
          </p:cNvPr>
          <p:cNvSpPr>
            <a:spLocks noGrp="1"/>
          </p:cNvSpPr>
          <p:nvPr/>
        </p:nvSpPr>
        <p:spPr>
          <a:xfrm>
            <a:off x="7715250" y="2895600"/>
            <a:ext cx="1905000" cy="19050"/>
          </a:xfrm>
          <a:prstGeom prst="rect">
            <a:avLst/>
          </a:prstGeom>
          <a:solidFill>
            <a:srgbClr val="D5A11E"/>
          </a:solidFill>
          <a:ln w="0">
            <a:solidFill>
              <a:srgbClr val="D5A1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57ADB10-67A0-448B-98DE-886C285FC1FB}"/>
              </a:ext>
            </a:extLst>
          </p:cNvPr>
          <p:cNvSpPr>
            <a:spLocks noGrp="1"/>
          </p:cNvSpPr>
          <p:nvPr/>
        </p:nvSpPr>
        <p:spPr>
          <a:xfrm>
            <a:off x="7715250" y="3733800"/>
            <a:ext cx="1257300" cy="19050"/>
          </a:xfrm>
          <a:prstGeom prst="rect">
            <a:avLst/>
          </a:prstGeom>
          <a:solidFill>
            <a:srgbClr val="E2674A"/>
          </a:solidFill>
          <a:ln w="0">
            <a:solidFill>
              <a:srgbClr val="E267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4A9C99-6C45-4118-B1E4-97078B81D475}"/>
              </a:ext>
            </a:extLst>
          </p:cNvPr>
          <p:cNvSpPr>
            <a:spLocks noGrp="1"/>
          </p:cNvSpPr>
          <p:nvPr/>
        </p:nvSpPr>
        <p:spPr>
          <a:xfrm>
            <a:off x="7715250" y="3733800"/>
            <a:ext cx="19050" cy="1181100"/>
          </a:xfrm>
          <a:prstGeom prst="rect">
            <a:avLst/>
          </a:prstGeom>
          <a:solidFill>
            <a:srgbClr val="E2674A"/>
          </a:solidFill>
          <a:ln w="0">
            <a:solidFill>
              <a:srgbClr val="E267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E5AE82-1C28-4BD0-9762-0D68586208D7}"/>
              </a:ext>
            </a:extLst>
          </p:cNvPr>
          <p:cNvSpPr>
            <a:spLocks noGrp="1"/>
          </p:cNvSpPr>
          <p:nvPr/>
        </p:nvSpPr>
        <p:spPr>
          <a:xfrm>
            <a:off x="4400550" y="3962400"/>
            <a:ext cx="742950" cy="190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29A03DA-9172-4B7B-A1EB-1043BE2BB5BD}"/>
              </a:ext>
            </a:extLst>
          </p:cNvPr>
          <p:cNvSpPr>
            <a:spLocks noGrp="1"/>
          </p:cNvSpPr>
          <p:nvPr/>
        </p:nvSpPr>
        <p:spPr>
          <a:xfrm>
            <a:off x="5143500" y="3962400"/>
            <a:ext cx="19050" cy="9525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0AD2D33-E258-4848-9176-512932510806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B91896C-8503-437B-AF13-AB22564F16ED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726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A372095-E4DE-46D9-B40E-A5EDF46EA3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146C45-B9E2-49E9-9A15-E4EB85E3784B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381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FD243B-D191-44ED-B2E0-D87FC7A43601}"/>
              </a:ext>
            </a:extLst>
          </p:cNvPr>
          <p:cNvSpPr>
            <a:spLocks noGrp="1"/>
          </p:cNvSpPr>
          <p:nvPr/>
        </p:nvSpPr>
        <p:spPr>
          <a:xfrm>
            <a:off x="990600" y="390525"/>
            <a:ext cx="3048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PRIORITIZATION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AF5B6-4286-4D64-819A-6CDB5265EC6B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Readiness improves when critical gaps stop hiding inside a long study list.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3E06AF-1715-4525-B03C-1FEE167FA3C3}"/>
              </a:ext>
            </a:extLst>
          </p:cNvPr>
          <p:cNvSpPr>
            <a:spLocks noGrp="1"/>
          </p:cNvSpPr>
          <p:nvPr/>
        </p:nvSpPr>
        <p:spPr>
          <a:xfrm>
            <a:off x="1028700" y="2381250"/>
            <a:ext cx="28575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DA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42EC1D-41A3-4D33-89D6-7B13F386AD17}"/>
              </a:ext>
            </a:extLst>
          </p:cNvPr>
          <p:cNvSpPr>
            <a:spLocks noGrp="1"/>
          </p:cNvSpPr>
          <p:nvPr/>
        </p:nvSpPr>
        <p:spPr>
          <a:xfrm>
            <a:off x="2457450" y="2381250"/>
            <a:ext cx="14288" cy="2857500"/>
          </a:xfrm>
          <a:prstGeom prst="rect">
            <a:avLst/>
          </a:prstGeom>
          <a:solidFill>
            <a:srgbClr val="CBD5DA"/>
          </a:solidFill>
          <a:ln w="0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4F3E17-0E6F-4538-9281-A7E9C7206F6D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2857500" cy="14288"/>
          </a:xfrm>
          <a:prstGeom prst="rect">
            <a:avLst/>
          </a:prstGeom>
          <a:solidFill>
            <a:srgbClr val="CBD5DA"/>
          </a:solidFill>
          <a:ln w="0">
            <a:solidFill>
              <a:srgbClr val="CBD5D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CDD03B-2729-45C0-9539-2D2DE3BCD87B}"/>
              </a:ext>
            </a:extLst>
          </p:cNvPr>
          <p:cNvSpPr>
            <a:spLocks noGrp="1"/>
          </p:cNvSpPr>
          <p:nvPr/>
        </p:nvSpPr>
        <p:spPr>
          <a:xfrm>
            <a:off x="800100" y="1962150"/>
            <a:ext cx="142875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975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High confidence risk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E34499-F5A5-45DF-926B-A623CD733D7F}"/>
              </a:ext>
            </a:extLst>
          </p:cNvPr>
          <p:cNvSpPr>
            <a:spLocks noGrp="1"/>
          </p:cNvSpPr>
          <p:nvPr/>
        </p:nvSpPr>
        <p:spPr>
          <a:xfrm>
            <a:off x="1009650" y="5334000"/>
            <a:ext cx="476250" cy="1905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Low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878242-393E-4934-A5EA-3D1F2E1FF930}"/>
              </a:ext>
            </a:extLst>
          </p:cNvPr>
          <p:cNvSpPr>
            <a:spLocks noGrp="1"/>
          </p:cNvSpPr>
          <p:nvPr/>
        </p:nvSpPr>
        <p:spPr>
          <a:xfrm>
            <a:off x="2609850" y="5334000"/>
            <a:ext cx="1352550" cy="1905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975" b="1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High exam impact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03A1CA7-6F58-40F0-BF98-8BB0CFDFAACE}"/>
              </a:ext>
            </a:extLst>
          </p:cNvPr>
          <p:cNvSpPr>
            <a:spLocks noGrp="1"/>
          </p:cNvSpPr>
          <p:nvPr/>
        </p:nvSpPr>
        <p:spPr>
          <a:xfrm>
            <a:off x="2628900" y="2724150"/>
            <a:ext cx="1047750" cy="557212"/>
          </a:xfrm>
          <a:prstGeom prst="roundRect">
            <a:avLst/>
          </a:prstGeom>
          <a:solidFill>
            <a:srgbClr val="FFF2D3"/>
          </a:solidFill>
          <a:ln w="19050">
            <a:solidFill>
              <a:srgbClr val="D5A11E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5CC8B-9DE0-4A59-BD38-E8E7BA3ECF67}"/>
              </a:ext>
            </a:extLst>
          </p:cNvPr>
          <p:cNvSpPr>
            <a:spLocks noGrp="1"/>
          </p:cNvSpPr>
          <p:nvPr/>
        </p:nvSpPr>
        <p:spPr>
          <a:xfrm>
            <a:off x="2800350" y="2781300"/>
            <a:ext cx="685800" cy="209550"/>
          </a:xfrm>
          <a:prstGeom prst="rect">
            <a:avLst/>
          </a:prstGeom>
          <a:solidFill>
            <a:srgbClr val="FFF2D3"/>
          </a:solidFill>
          <a:ln w="0">
            <a:solidFill>
              <a:srgbClr val="FFF2D3"/>
            </a:solidFill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dirty="0"/>
              <a:t>Critical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2265BD-6BD4-4508-88E1-6EFAA4A344DB}"/>
              </a:ext>
            </a:extLst>
          </p:cNvPr>
          <p:cNvSpPr>
            <a:spLocks noGrp="1"/>
          </p:cNvSpPr>
          <p:nvPr/>
        </p:nvSpPr>
        <p:spPr>
          <a:xfrm>
            <a:off x="2819400" y="3028950"/>
            <a:ext cx="666750" cy="171450"/>
          </a:xfrm>
          <a:prstGeom prst="rect">
            <a:avLst/>
          </a:prstGeom>
          <a:solidFill>
            <a:srgbClr val="FFF2D3"/>
          </a:solidFill>
          <a:ln w="0">
            <a:solidFill>
              <a:srgbClr val="FFF2D3"/>
            </a:solidFill>
            <a:prstDash val="solid"/>
          </a:ln>
        </p:spPr>
        <p:txBody>
          <a:bodyPr anchor="t"/>
          <a:lstStyle/>
          <a:p>
            <a:pPr algn="ctr">
              <a:defRPr sz="90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treat first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4514ED0-C1BE-4693-A1AA-B2B05FF1ACA3}"/>
              </a:ext>
            </a:extLst>
          </p:cNvPr>
          <p:cNvSpPr>
            <a:spLocks noGrp="1"/>
          </p:cNvSpPr>
          <p:nvPr/>
        </p:nvSpPr>
        <p:spPr>
          <a:xfrm>
            <a:off x="1295400" y="2724150"/>
            <a:ext cx="952500" cy="533400"/>
          </a:xfrm>
          <a:prstGeom prst="roundRect">
            <a:avLst/>
          </a:prstGeom>
          <a:solidFill>
            <a:srgbClr val="F2FAFC"/>
          </a:solidFill>
          <a:ln w="9525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8DD3B8-C361-4B47-8092-B18E5133B6CC}"/>
              </a:ext>
            </a:extLst>
          </p:cNvPr>
          <p:cNvSpPr>
            <a:spLocks noGrp="1"/>
          </p:cNvSpPr>
          <p:nvPr/>
        </p:nvSpPr>
        <p:spPr>
          <a:xfrm>
            <a:off x="1435617" y="2867025"/>
            <a:ext cx="647700" cy="171450"/>
          </a:xfrm>
          <a:prstGeom prst="rect">
            <a:avLst/>
          </a:prstGeom>
          <a:solidFill>
            <a:srgbClr val="F2FAFC"/>
          </a:solidFill>
          <a:ln w="0">
            <a:solidFill>
              <a:srgbClr val="F2FAFC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Clarify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6B70460-5379-490D-B688-67E6BCAB91F1}"/>
              </a:ext>
            </a:extLst>
          </p:cNvPr>
          <p:cNvSpPr>
            <a:spLocks noGrp="1"/>
          </p:cNvSpPr>
          <p:nvPr/>
        </p:nvSpPr>
        <p:spPr>
          <a:xfrm>
            <a:off x="1267268" y="4191000"/>
            <a:ext cx="933450" cy="533400"/>
          </a:xfrm>
          <a:prstGeom prst="roundRect">
            <a:avLst/>
          </a:prstGeom>
          <a:solidFill>
            <a:srgbClr val="F8FBF7"/>
          </a:solidFill>
          <a:ln w="9525">
            <a:solidFill>
              <a:srgbClr val="4C8F6A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1BDD7D-C805-4D68-82D1-1B0B8071F0A8}"/>
              </a:ext>
            </a:extLst>
          </p:cNvPr>
          <p:cNvSpPr>
            <a:spLocks noGrp="1"/>
          </p:cNvSpPr>
          <p:nvPr/>
        </p:nvSpPr>
        <p:spPr>
          <a:xfrm>
            <a:off x="1447800" y="4338637"/>
            <a:ext cx="514350" cy="171450"/>
          </a:xfrm>
          <a:prstGeom prst="rect">
            <a:avLst/>
          </a:prstGeom>
          <a:solidFill>
            <a:srgbClr val="F8FBF7"/>
          </a:solidFill>
          <a:ln w="0">
            <a:solidFill>
              <a:srgbClr val="F8FBF7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rPr dirty="0"/>
              <a:t>Later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D8F7A11-AC73-4C59-ABB0-DC2978BCE31E}"/>
              </a:ext>
            </a:extLst>
          </p:cNvPr>
          <p:cNvSpPr>
            <a:spLocks noGrp="1"/>
          </p:cNvSpPr>
          <p:nvPr/>
        </p:nvSpPr>
        <p:spPr>
          <a:xfrm>
            <a:off x="2681288" y="4191000"/>
            <a:ext cx="965181" cy="504824"/>
          </a:xfrm>
          <a:prstGeom prst="roundRect">
            <a:avLst/>
          </a:prstGeom>
          <a:solidFill>
            <a:srgbClr val="FFF8F5"/>
          </a:solidFill>
          <a:ln w="9525">
            <a:solidFill>
              <a:srgbClr val="E2674A"/>
            </a:solidFill>
            <a:prstDash val="solid"/>
          </a:ln>
        </p:spPr>
        <p:txBody>
          <a:bodyPr/>
          <a:lstStyle/>
          <a:p>
            <a:pPr marL="0" indent="0" algn="l" defTabSz="914400" rtl="0"/>
            <a:endParaRPr lang="en-IL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BDE471-BB32-4E80-A2E0-9BE236468955}"/>
              </a:ext>
            </a:extLst>
          </p:cNvPr>
          <p:cNvSpPr>
            <a:spLocks noGrp="1"/>
          </p:cNvSpPr>
          <p:nvPr/>
        </p:nvSpPr>
        <p:spPr>
          <a:xfrm>
            <a:off x="2787060" y="4328558"/>
            <a:ext cx="709612" cy="238125"/>
          </a:xfrm>
          <a:prstGeom prst="rect">
            <a:avLst/>
          </a:prstGeom>
          <a:solidFill>
            <a:srgbClr val="FFF8F5"/>
          </a:solidFill>
          <a:ln w="0">
            <a:solidFill>
              <a:srgbClr val="FFF8F5"/>
            </a:solidFill>
            <a:prstDash val="solid"/>
          </a:ln>
        </p:spPr>
        <p:txBody>
          <a:bodyPr anchor="t"/>
          <a:lstStyle/>
          <a:p>
            <a:pPr algn="ctr">
              <a:defRPr sz="105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rPr dirty="0"/>
              <a:t>Practice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71E4529-62CE-47E9-85FC-9484668949FD}"/>
              </a:ext>
            </a:extLst>
          </p:cNvPr>
          <p:cNvSpPr>
            <a:spLocks noGrp="1"/>
          </p:cNvSpPr>
          <p:nvPr/>
        </p:nvSpPr>
        <p:spPr>
          <a:xfrm>
            <a:off x="4953000" y="2266950"/>
            <a:ext cx="5676900" cy="3200400"/>
          </a:xfrm>
          <a:prstGeom prst="round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18B3C1-471F-4189-A69E-0818FF258434}"/>
              </a:ext>
            </a:extLst>
          </p:cNvPr>
          <p:cNvSpPr>
            <a:spLocks noGrp="1"/>
          </p:cNvSpPr>
          <p:nvPr/>
        </p:nvSpPr>
        <p:spPr>
          <a:xfrm>
            <a:off x="5295900" y="2590800"/>
            <a:ext cx="2381250" cy="3619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Readiness score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F583AD-9FAA-4CCF-B9DF-2E3383D8871C}"/>
              </a:ext>
            </a:extLst>
          </p:cNvPr>
          <p:cNvSpPr>
            <a:spLocks noGrp="1"/>
          </p:cNvSpPr>
          <p:nvPr/>
        </p:nvSpPr>
        <p:spPr>
          <a:xfrm>
            <a:off x="5314950" y="3048000"/>
            <a:ext cx="4381500" cy="4572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D5DEE3"/>
                </a:solidFill>
                <a:latin typeface="Arial"/>
                <a:ea typeface="Arial"/>
                <a:cs typeface="Arial"/>
              </a:defRPr>
            </a:pPr>
            <a:r>
              <a:t>A visible status model gives the student a live answer to: am I ready enough for this course?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58C2FD-832F-4693-9E5F-7281F8A75BDD}"/>
              </a:ext>
            </a:extLst>
          </p:cNvPr>
          <p:cNvSpPr>
            <a:spLocks noGrp="1"/>
          </p:cNvSpPr>
          <p:nvPr/>
        </p:nvSpPr>
        <p:spPr>
          <a:xfrm>
            <a:off x="5334000" y="3876675"/>
            <a:ext cx="1047750" cy="952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D977196-BAC0-46F7-A5F1-C08FE54C362D}"/>
              </a:ext>
            </a:extLst>
          </p:cNvPr>
          <p:cNvSpPr>
            <a:spLocks noGrp="1"/>
          </p:cNvSpPr>
          <p:nvPr/>
        </p:nvSpPr>
        <p:spPr>
          <a:xfrm>
            <a:off x="7010400" y="3790950"/>
            <a:ext cx="2381250" cy="2476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Completed topics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8F50ED1-319D-4AA4-A1C1-83553503D93A}"/>
              </a:ext>
            </a:extLst>
          </p:cNvPr>
          <p:cNvSpPr>
            <a:spLocks noGrp="1"/>
          </p:cNvSpPr>
          <p:nvPr/>
        </p:nvSpPr>
        <p:spPr>
          <a:xfrm>
            <a:off x="5334000" y="4276725"/>
            <a:ext cx="1371600" cy="95250"/>
          </a:xfrm>
          <a:prstGeom prst="rect">
            <a:avLst/>
          </a:prstGeom>
          <a:solidFill>
            <a:srgbClr val="D5A11E"/>
          </a:solidFill>
          <a:ln w="0">
            <a:solidFill>
              <a:srgbClr val="D5A1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621EB2D-B8C3-4C16-8140-F4DDF7F89454}"/>
              </a:ext>
            </a:extLst>
          </p:cNvPr>
          <p:cNvSpPr>
            <a:spLocks noGrp="1"/>
          </p:cNvSpPr>
          <p:nvPr/>
        </p:nvSpPr>
        <p:spPr>
          <a:xfrm>
            <a:off x="7010400" y="4191000"/>
            <a:ext cx="2381250" cy="2476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Open critical gaps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0869D2-546B-4C57-82EA-4A442C6D732F}"/>
              </a:ext>
            </a:extLst>
          </p:cNvPr>
          <p:cNvSpPr>
            <a:spLocks noGrp="1"/>
          </p:cNvSpPr>
          <p:nvPr/>
        </p:nvSpPr>
        <p:spPr>
          <a:xfrm>
            <a:off x="5334000" y="4676775"/>
            <a:ext cx="1695450" cy="952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AE2A05-790F-4364-A33A-466EA39149F2}"/>
              </a:ext>
            </a:extLst>
          </p:cNvPr>
          <p:cNvSpPr>
            <a:spLocks noGrp="1"/>
          </p:cNvSpPr>
          <p:nvPr/>
        </p:nvSpPr>
        <p:spPr>
          <a:xfrm>
            <a:off x="7010400" y="4591050"/>
            <a:ext cx="2381250" cy="2476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Weekly progress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157440-FD85-4DCA-8C6D-4931BF01181B}"/>
              </a:ext>
            </a:extLst>
          </p:cNvPr>
          <p:cNvSpPr>
            <a:spLocks noGrp="1"/>
          </p:cNvSpPr>
          <p:nvPr/>
        </p:nvSpPr>
        <p:spPr>
          <a:xfrm>
            <a:off x="5295900" y="4953000"/>
            <a:ext cx="4610100" cy="14288"/>
          </a:xfrm>
          <a:prstGeom prst="rect">
            <a:avLst/>
          </a:prstGeom>
          <a:solidFill>
            <a:srgbClr val="52606B"/>
          </a:solidFill>
          <a:ln w="0">
            <a:solidFill>
              <a:srgbClr val="5260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BA2AE0-4477-4E08-80AF-ECDC0853FF77}"/>
              </a:ext>
            </a:extLst>
          </p:cNvPr>
          <p:cNvSpPr>
            <a:spLocks noGrp="1"/>
          </p:cNvSpPr>
          <p:nvPr/>
        </p:nvSpPr>
        <p:spPr>
          <a:xfrm>
            <a:off x="5314950" y="5105400"/>
            <a:ext cx="3143250" cy="2476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Output: prioritized recovery queue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276B52-0C90-420D-B3E1-FA74D588EC1B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7E31FC8-D341-4D6C-86A7-3BC9946D006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052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9ECCB3BB-4FB9-4737-945B-5985713E272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6C437A-E383-4616-A360-D3402FC3B45A}"/>
              </a:ext>
            </a:extLst>
          </p:cNvPr>
          <p:cNvSpPr>
            <a:spLocks noGrp="1"/>
          </p:cNvSpPr>
          <p:nvPr/>
        </p:nvSpPr>
        <p:spPr>
          <a:xfrm>
            <a:off x="609600" y="495300"/>
            <a:ext cx="266700" cy="3810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693632-2862-4E5A-99D5-AF5BE4CB4C0B}"/>
              </a:ext>
            </a:extLst>
          </p:cNvPr>
          <p:cNvSpPr>
            <a:spLocks noGrp="1"/>
          </p:cNvSpPr>
          <p:nvPr/>
        </p:nvSpPr>
        <p:spPr>
          <a:xfrm>
            <a:off x="990600" y="390525"/>
            <a:ext cx="3048000" cy="2667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SYLLABUS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389234-83FC-4C6D-AC8F-CCD9B3BE8C23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8858250" cy="990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27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AI syllabus upload extends GapTracker from reactive capture to structured planning.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07F2D4C-785C-4F3C-B6D5-689947C40A7D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676400" cy="1104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8AC038-C869-49F9-8E18-46FCEB8C0AB1}"/>
              </a:ext>
            </a:extLst>
          </p:cNvPr>
          <p:cNvSpPr>
            <a:spLocks noGrp="1"/>
          </p:cNvSpPr>
          <p:nvPr/>
        </p:nvSpPr>
        <p:spPr>
          <a:xfrm>
            <a:off x="857250" y="2724150"/>
            <a:ext cx="266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400D14-7664-4884-BD38-450BAC7D55B0}"/>
              </a:ext>
            </a:extLst>
          </p:cNvPr>
          <p:cNvSpPr>
            <a:spLocks noGrp="1"/>
          </p:cNvSpPr>
          <p:nvPr/>
        </p:nvSpPr>
        <p:spPr>
          <a:xfrm>
            <a:off x="1200150" y="2686050"/>
            <a:ext cx="99060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t>Upload PDF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0A7A25-7A92-4AC0-82A5-1CEDADDC617A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12192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course syllabus file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32BEE5-86EB-4B15-B937-1C07DB10EA02}"/>
              </a:ext>
            </a:extLst>
          </p:cNvPr>
          <p:cNvSpPr>
            <a:spLocks noGrp="1"/>
          </p:cNvSpPr>
          <p:nvPr/>
        </p:nvSpPr>
        <p:spPr>
          <a:xfrm>
            <a:off x="2438400" y="3067050"/>
            <a:ext cx="381000" cy="190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9BACC-E3DE-496D-AC24-2978A073A1F2}"/>
              </a:ext>
            </a:extLst>
          </p:cNvPr>
          <p:cNvSpPr>
            <a:spLocks noGrp="1"/>
          </p:cNvSpPr>
          <p:nvPr/>
        </p:nvSpPr>
        <p:spPr>
          <a:xfrm>
            <a:off x="2800350" y="3028950"/>
            <a:ext cx="76200" cy="952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F9801B-B25A-4737-A946-0E42AB11661E}"/>
              </a:ext>
            </a:extLst>
          </p:cNvPr>
          <p:cNvSpPr>
            <a:spLocks noGrp="1"/>
          </p:cNvSpPr>
          <p:nvPr/>
        </p:nvSpPr>
        <p:spPr>
          <a:xfrm>
            <a:off x="2895600" y="2533650"/>
            <a:ext cx="1676400" cy="1104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15F5E-0B76-4DB2-AEDE-5CBEA8244240}"/>
              </a:ext>
            </a:extLst>
          </p:cNvPr>
          <p:cNvSpPr>
            <a:spLocks noGrp="1"/>
          </p:cNvSpPr>
          <p:nvPr/>
        </p:nvSpPr>
        <p:spPr>
          <a:xfrm>
            <a:off x="3067050" y="2724150"/>
            <a:ext cx="266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58BC0E-3FFF-409E-9174-06F1CFA0B97D}"/>
              </a:ext>
            </a:extLst>
          </p:cNvPr>
          <p:cNvSpPr>
            <a:spLocks noGrp="1"/>
          </p:cNvSpPr>
          <p:nvPr/>
        </p:nvSpPr>
        <p:spPr>
          <a:xfrm>
            <a:off x="3409950" y="2686050"/>
            <a:ext cx="99060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2F6F9F"/>
                </a:solidFill>
                <a:latin typeface="Arial"/>
                <a:ea typeface="Arial"/>
                <a:cs typeface="Arial"/>
              </a:defRPr>
            </a:pPr>
            <a:r>
              <a:t>Extract topics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81372F-3C37-4D4B-AD40-5D49045F6107}"/>
              </a:ext>
            </a:extLst>
          </p:cNvPr>
          <p:cNvSpPr>
            <a:spLocks noGrp="1"/>
          </p:cNvSpPr>
          <p:nvPr/>
        </p:nvSpPr>
        <p:spPr>
          <a:xfrm>
            <a:off x="3124200" y="3162300"/>
            <a:ext cx="12192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AI reads course structure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9B984F-5E64-4390-9A3D-F2EBAE87D557}"/>
              </a:ext>
            </a:extLst>
          </p:cNvPr>
          <p:cNvSpPr>
            <a:spLocks noGrp="1"/>
          </p:cNvSpPr>
          <p:nvPr/>
        </p:nvSpPr>
        <p:spPr>
          <a:xfrm>
            <a:off x="4648200" y="3067050"/>
            <a:ext cx="381000" cy="190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2154CC-ACB6-4205-9553-2858BCC917E1}"/>
              </a:ext>
            </a:extLst>
          </p:cNvPr>
          <p:cNvSpPr>
            <a:spLocks noGrp="1"/>
          </p:cNvSpPr>
          <p:nvPr/>
        </p:nvSpPr>
        <p:spPr>
          <a:xfrm>
            <a:off x="5010150" y="3028950"/>
            <a:ext cx="76200" cy="95250"/>
          </a:xfrm>
          <a:prstGeom prst="rect">
            <a:avLst/>
          </a:prstGeom>
          <a:solidFill>
            <a:srgbClr val="2F6F9F"/>
          </a:solidFill>
          <a:ln w="0">
            <a:solidFill>
              <a:srgbClr val="2F6F9F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C2A0BA8-C104-4479-85B0-4B5B8C83218C}"/>
              </a:ext>
            </a:extLst>
          </p:cNvPr>
          <p:cNvSpPr>
            <a:spLocks noGrp="1"/>
          </p:cNvSpPr>
          <p:nvPr/>
        </p:nvSpPr>
        <p:spPr>
          <a:xfrm>
            <a:off x="5105400" y="2533650"/>
            <a:ext cx="1676400" cy="1104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8AD9638-6B2F-411E-A261-96814480B02B}"/>
              </a:ext>
            </a:extLst>
          </p:cNvPr>
          <p:cNvSpPr>
            <a:spLocks noGrp="1"/>
          </p:cNvSpPr>
          <p:nvPr/>
        </p:nvSpPr>
        <p:spPr>
          <a:xfrm>
            <a:off x="5276850" y="2724150"/>
            <a:ext cx="266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3190F2-4CDB-4524-99A6-581F63C89D45}"/>
              </a:ext>
            </a:extLst>
          </p:cNvPr>
          <p:cNvSpPr>
            <a:spLocks noGrp="1"/>
          </p:cNvSpPr>
          <p:nvPr/>
        </p:nvSpPr>
        <p:spPr>
          <a:xfrm>
            <a:off x="5619750" y="2686050"/>
            <a:ext cx="99060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Create checklist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56AF47-7C71-4AC8-AA57-E5B2723E285D}"/>
              </a:ext>
            </a:extLst>
          </p:cNvPr>
          <p:cNvSpPr>
            <a:spLocks noGrp="1"/>
          </p:cNvSpPr>
          <p:nvPr/>
        </p:nvSpPr>
        <p:spPr>
          <a:xfrm>
            <a:off x="5334000" y="3162300"/>
            <a:ext cx="12192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topics become trackable items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0DABF1-3C43-4467-A0C9-13B400690CED}"/>
              </a:ext>
            </a:extLst>
          </p:cNvPr>
          <p:cNvSpPr>
            <a:spLocks noGrp="1"/>
          </p:cNvSpPr>
          <p:nvPr/>
        </p:nvSpPr>
        <p:spPr>
          <a:xfrm>
            <a:off x="6858000" y="3067050"/>
            <a:ext cx="381000" cy="190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236C67-D286-4CBC-B70B-29E28512B14D}"/>
              </a:ext>
            </a:extLst>
          </p:cNvPr>
          <p:cNvSpPr>
            <a:spLocks noGrp="1"/>
          </p:cNvSpPr>
          <p:nvPr/>
        </p:nvSpPr>
        <p:spPr>
          <a:xfrm>
            <a:off x="7219950" y="3028950"/>
            <a:ext cx="76200" cy="952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58DF1CA-B4FB-47B6-9665-C24AA78227B5}"/>
              </a:ext>
            </a:extLst>
          </p:cNvPr>
          <p:cNvSpPr>
            <a:spLocks noGrp="1"/>
          </p:cNvSpPr>
          <p:nvPr/>
        </p:nvSpPr>
        <p:spPr>
          <a:xfrm>
            <a:off x="7315200" y="2533650"/>
            <a:ext cx="1676400" cy="1104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5A1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1266FC5-D390-4B86-9283-76239BE54BEB}"/>
              </a:ext>
            </a:extLst>
          </p:cNvPr>
          <p:cNvSpPr>
            <a:spLocks noGrp="1"/>
          </p:cNvSpPr>
          <p:nvPr/>
        </p:nvSpPr>
        <p:spPr>
          <a:xfrm>
            <a:off x="7486650" y="2724150"/>
            <a:ext cx="266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D5A11E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B0214F-A3FB-4399-B685-BF5392D16DD1}"/>
              </a:ext>
            </a:extLst>
          </p:cNvPr>
          <p:cNvSpPr>
            <a:spLocks noGrp="1"/>
          </p:cNvSpPr>
          <p:nvPr/>
        </p:nvSpPr>
        <p:spPr>
          <a:xfrm>
            <a:off x="7829550" y="2686050"/>
            <a:ext cx="99060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D5A11E"/>
                </a:solidFill>
                <a:latin typeface="Arial"/>
                <a:ea typeface="Arial"/>
                <a:cs typeface="Arial"/>
              </a:defRPr>
            </a:pPr>
            <a:r>
              <a:t>Mark completed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D7D7B6-6FA0-4D54-8008-7B191EBF45FA}"/>
              </a:ext>
            </a:extLst>
          </p:cNvPr>
          <p:cNvSpPr>
            <a:spLocks noGrp="1"/>
          </p:cNvSpPr>
          <p:nvPr/>
        </p:nvSpPr>
        <p:spPr>
          <a:xfrm>
            <a:off x="7543800" y="3162300"/>
            <a:ext cx="12192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student closes each topic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9EAD78-7909-475D-BA6A-5FB55187B176}"/>
              </a:ext>
            </a:extLst>
          </p:cNvPr>
          <p:cNvSpPr>
            <a:spLocks noGrp="1"/>
          </p:cNvSpPr>
          <p:nvPr/>
        </p:nvSpPr>
        <p:spPr>
          <a:xfrm>
            <a:off x="9067800" y="3067050"/>
            <a:ext cx="381000" cy="19050"/>
          </a:xfrm>
          <a:prstGeom prst="rect">
            <a:avLst/>
          </a:prstGeom>
          <a:solidFill>
            <a:srgbClr val="D5A11E"/>
          </a:solidFill>
          <a:ln w="0">
            <a:solidFill>
              <a:srgbClr val="D5A1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38E1601-E11A-4D98-B732-4490B5BA4A7B}"/>
              </a:ext>
            </a:extLst>
          </p:cNvPr>
          <p:cNvSpPr>
            <a:spLocks noGrp="1"/>
          </p:cNvSpPr>
          <p:nvPr/>
        </p:nvSpPr>
        <p:spPr>
          <a:xfrm>
            <a:off x="9429750" y="3028950"/>
            <a:ext cx="76200" cy="95250"/>
          </a:xfrm>
          <a:prstGeom prst="rect">
            <a:avLst/>
          </a:prstGeom>
          <a:solidFill>
            <a:srgbClr val="D5A11E"/>
          </a:solidFill>
          <a:ln w="0">
            <a:solidFill>
              <a:srgbClr val="D5A11E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856C4BD-7718-4AF8-B9B5-AE24FE2AD964}"/>
              </a:ext>
            </a:extLst>
          </p:cNvPr>
          <p:cNvSpPr>
            <a:spLocks noGrp="1"/>
          </p:cNvSpPr>
          <p:nvPr/>
        </p:nvSpPr>
        <p:spPr>
          <a:xfrm>
            <a:off x="9525000" y="2533650"/>
            <a:ext cx="1676400" cy="11049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74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C42D27-CBD3-42B8-AD2D-52EFEC58AB4C}"/>
              </a:ext>
            </a:extLst>
          </p:cNvPr>
          <p:cNvSpPr>
            <a:spLocks noGrp="1"/>
          </p:cNvSpPr>
          <p:nvPr/>
        </p:nvSpPr>
        <p:spPr>
          <a:xfrm>
            <a:off x="9696450" y="2724150"/>
            <a:ext cx="266700" cy="2667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32121D-C5B0-415C-88FE-7ACE2A6F5D66}"/>
              </a:ext>
            </a:extLst>
          </p:cNvPr>
          <p:cNvSpPr>
            <a:spLocks noGrp="1"/>
          </p:cNvSpPr>
          <p:nvPr/>
        </p:nvSpPr>
        <p:spPr>
          <a:xfrm>
            <a:off x="10039350" y="2686050"/>
            <a:ext cx="990600" cy="3619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Update readiness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CAA9C4-DD04-430E-B611-34DC06AB1877}"/>
              </a:ext>
            </a:extLst>
          </p:cNvPr>
          <p:cNvSpPr>
            <a:spLocks noGrp="1"/>
          </p:cNvSpPr>
          <p:nvPr/>
        </p:nvSpPr>
        <p:spPr>
          <a:xfrm>
            <a:off x="9753600" y="3162300"/>
            <a:ext cx="1219200" cy="3238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dashboard reflects progress</a:t>
            </a: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DE3E1AA1-4573-4B84-A489-2A0D17DF1C3D}"/>
              </a:ext>
            </a:extLst>
          </p:cNvPr>
          <p:cNvSpPr>
            <a:spLocks noGrp="1"/>
          </p:cNvSpPr>
          <p:nvPr/>
        </p:nvSpPr>
        <p:spPr>
          <a:xfrm>
            <a:off x="2476500" y="4476750"/>
            <a:ext cx="7239000" cy="704850"/>
          </a:xfrm>
          <a:prstGeom prst="round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3723A2F-CD26-400E-A3C8-E82736383FA0}"/>
              </a:ext>
            </a:extLst>
          </p:cNvPr>
          <p:cNvSpPr>
            <a:spLocks noGrp="1"/>
          </p:cNvSpPr>
          <p:nvPr/>
        </p:nvSpPr>
        <p:spPr>
          <a:xfrm>
            <a:off x="2781300" y="4629150"/>
            <a:ext cx="1238250" cy="2095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E2674A"/>
                </a:solidFill>
                <a:latin typeface="Arial"/>
                <a:ea typeface="Arial"/>
                <a:cs typeface="Arial"/>
              </a:defRPr>
            </a:pPr>
            <a:r>
              <a:t>Model shift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2AC72DC-EAFA-491A-B583-68A8D4F72827}"/>
              </a:ext>
            </a:extLst>
          </p:cNvPr>
          <p:cNvSpPr>
            <a:spLocks noGrp="1"/>
          </p:cNvSpPr>
          <p:nvPr/>
        </p:nvSpPr>
        <p:spPr>
          <a:xfrm>
            <a:off x="4076700" y="4572000"/>
            <a:ext cx="5219700" cy="4191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ctr"/>
          <a:lstStyle/>
          <a:p>
            <a:pPr algn="l">
              <a:defRPr sz="12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product no longer waits for confusion only; it prepares the course map before the semester workload peaks.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6D0FC29-CE2C-4D5A-A77B-5BCA83D5B2E6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9B4A652-354E-44E1-8461-B1BF6465118E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697784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8750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2CBCC86E-B422-4D7E-9D94-7876FD493E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9281F4-2947-4BC5-873C-C5A256CB806A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323850" cy="3810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B31BF7-C330-494D-8D02-0017B5591C9D}"/>
              </a:ext>
            </a:extLst>
          </p:cNvPr>
          <p:cNvSpPr>
            <a:spLocks noGrp="1"/>
          </p:cNvSpPr>
          <p:nvPr/>
        </p:nvSpPr>
        <p:spPr>
          <a:xfrm>
            <a:off x="1066800" y="400050"/>
            <a:ext cx="2476500" cy="2476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ctr"/>
          <a:lstStyle/>
          <a:p>
            <a:pPr algn="l">
              <a:defRPr sz="900" b="1" i="0">
                <a:solidFill>
                  <a:srgbClr val="4C8F6A"/>
                </a:solidFill>
                <a:latin typeface="Arial"/>
                <a:ea typeface="Arial"/>
                <a:cs typeface="Arial"/>
              </a:defRPr>
            </a:pPr>
            <a:r>
              <a:t>ROADMAP MODEL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7853EA-35EF-4FE0-A49F-F1251BEE880E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8096250" cy="9144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roadmap moves from private recovery to learning intelligence.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496845-086E-486C-A0F2-6DE696A72160}"/>
              </a:ext>
            </a:extLst>
          </p:cNvPr>
          <p:cNvSpPr>
            <a:spLocks noGrp="1"/>
          </p:cNvSpPr>
          <p:nvPr/>
        </p:nvSpPr>
        <p:spPr>
          <a:xfrm>
            <a:off x="1143000" y="3143250"/>
            <a:ext cx="2095500" cy="190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66FACB6-EACC-480B-A758-C7DFD43A7A90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609600" cy="609600"/>
          </a:xfrm>
          <a:prstGeom prst="roundRect">
            <a:avLst/>
          </a:prstGeom>
          <a:solidFill>
            <a:srgbClr val="4C8F6A"/>
          </a:solidFill>
          <a:ln w="9525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43AA0-74CD-41CB-8165-156BD0D72C84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304800" cy="26670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7E84DA-B6B0-4093-A60C-62A17E50AF5D}"/>
              </a:ext>
            </a:extLst>
          </p:cNvPr>
          <p:cNvSpPr>
            <a:spLocks noGrp="1"/>
          </p:cNvSpPr>
          <p:nvPr/>
        </p:nvSpPr>
        <p:spPr>
          <a:xfrm>
            <a:off x="838200" y="3524250"/>
            <a:ext cx="2000250" cy="2667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Personal capture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7A73F5-5000-4020-87C7-63833EE6EF9E}"/>
              </a:ext>
            </a:extLst>
          </p:cNvPr>
          <p:cNvSpPr>
            <a:spLocks noGrp="1"/>
          </p:cNvSpPr>
          <p:nvPr/>
        </p:nvSpPr>
        <p:spPr>
          <a:xfrm>
            <a:off x="838200" y="3867150"/>
            <a:ext cx="2095500" cy="4762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C8D2D8"/>
                </a:solidFill>
                <a:latin typeface="Arial"/>
                <a:ea typeface="Arial"/>
                <a:cs typeface="Arial"/>
              </a:defRPr>
            </a:pPr>
            <a:r>
              <a:t>Fast gap creation with voice/photo evidence.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CD3754-0888-4C25-A2A3-EEB9AB46990D}"/>
              </a:ext>
            </a:extLst>
          </p:cNvPr>
          <p:cNvSpPr>
            <a:spLocks noGrp="1"/>
          </p:cNvSpPr>
          <p:nvPr/>
        </p:nvSpPr>
        <p:spPr>
          <a:xfrm>
            <a:off x="3867150" y="3143250"/>
            <a:ext cx="2095500" cy="190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61BB957-FEA7-4789-92AD-11F21977C190}"/>
              </a:ext>
            </a:extLst>
          </p:cNvPr>
          <p:cNvSpPr>
            <a:spLocks noGrp="1"/>
          </p:cNvSpPr>
          <p:nvPr/>
        </p:nvSpPr>
        <p:spPr>
          <a:xfrm>
            <a:off x="3562350" y="2609850"/>
            <a:ext cx="609600" cy="609600"/>
          </a:xfrm>
          <a:prstGeom prst="roundRect">
            <a:avLst/>
          </a:prstGeom>
          <a:solidFill>
            <a:srgbClr val="2A3742"/>
          </a:solidFill>
          <a:ln w="9525">
            <a:solidFill>
              <a:srgbClr val="5260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4AD90D-1583-45D3-B8E8-6E99EF6E5BD6}"/>
              </a:ext>
            </a:extLst>
          </p:cNvPr>
          <p:cNvSpPr>
            <a:spLocks noGrp="1"/>
          </p:cNvSpPr>
          <p:nvPr/>
        </p:nvSpPr>
        <p:spPr>
          <a:xfrm>
            <a:off x="3714750" y="2724150"/>
            <a:ext cx="304800" cy="266700"/>
          </a:xfrm>
          <a:prstGeom prst="rect">
            <a:avLst/>
          </a:prstGeom>
          <a:solidFill>
            <a:srgbClr val="2A3742"/>
          </a:solidFill>
          <a:ln w="0">
            <a:solidFill>
              <a:srgbClr val="2A3742"/>
            </a:solidFill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626C9F-08A8-4454-88EE-70D353FD0E9B}"/>
              </a:ext>
            </a:extLst>
          </p:cNvPr>
          <p:cNvSpPr>
            <a:spLocks noGrp="1"/>
          </p:cNvSpPr>
          <p:nvPr/>
        </p:nvSpPr>
        <p:spPr>
          <a:xfrm>
            <a:off x="3562350" y="3524250"/>
            <a:ext cx="2000250" cy="2667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Readiness dashboard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456458-17B8-4871-B8C3-6B55082DB7BA}"/>
              </a:ext>
            </a:extLst>
          </p:cNvPr>
          <p:cNvSpPr>
            <a:spLocks noGrp="1"/>
          </p:cNvSpPr>
          <p:nvPr/>
        </p:nvSpPr>
        <p:spPr>
          <a:xfrm>
            <a:off x="3562350" y="3867150"/>
            <a:ext cx="2095500" cy="4762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C8D2D8"/>
                </a:solidFill>
                <a:latin typeface="Arial"/>
                <a:ea typeface="Arial"/>
                <a:cs typeface="Arial"/>
              </a:defRPr>
            </a:pPr>
            <a:r>
              <a:t>Course status, critical queue, weekly progress.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74DD9-5E90-4C8F-8B3F-84AB464D055B}"/>
              </a:ext>
            </a:extLst>
          </p:cNvPr>
          <p:cNvSpPr>
            <a:spLocks noGrp="1"/>
          </p:cNvSpPr>
          <p:nvPr/>
        </p:nvSpPr>
        <p:spPr>
          <a:xfrm>
            <a:off x="6591300" y="3143250"/>
            <a:ext cx="2095500" cy="19050"/>
          </a:xfrm>
          <a:prstGeom prst="rect">
            <a:avLst/>
          </a:prstGeom>
          <a:solidFill>
            <a:srgbClr val="4C8F6A"/>
          </a:solidFill>
          <a:ln w="0">
            <a:solidFill>
              <a:srgbClr val="4C8F6A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403E144-02C7-44B5-AE79-142E37B2EBBF}"/>
              </a:ext>
            </a:extLst>
          </p:cNvPr>
          <p:cNvSpPr>
            <a:spLocks noGrp="1"/>
          </p:cNvSpPr>
          <p:nvPr/>
        </p:nvSpPr>
        <p:spPr>
          <a:xfrm>
            <a:off x="6286500" y="2609850"/>
            <a:ext cx="609600" cy="609600"/>
          </a:xfrm>
          <a:prstGeom prst="roundRect">
            <a:avLst/>
          </a:prstGeom>
          <a:solidFill>
            <a:srgbClr val="2A3742"/>
          </a:solidFill>
          <a:ln w="9525">
            <a:solidFill>
              <a:srgbClr val="5260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3AD1B1-5BFA-4026-AF24-295C38C5374D}"/>
              </a:ext>
            </a:extLst>
          </p:cNvPr>
          <p:cNvSpPr>
            <a:spLocks noGrp="1"/>
          </p:cNvSpPr>
          <p:nvPr/>
        </p:nvSpPr>
        <p:spPr>
          <a:xfrm>
            <a:off x="6438900" y="2724150"/>
            <a:ext cx="304800" cy="266700"/>
          </a:xfrm>
          <a:prstGeom prst="rect">
            <a:avLst/>
          </a:prstGeom>
          <a:solidFill>
            <a:srgbClr val="2A3742"/>
          </a:solidFill>
          <a:ln w="0">
            <a:solidFill>
              <a:srgbClr val="2A3742"/>
            </a:solidFill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3FE891-C7E0-419A-BE37-20F946065101}"/>
              </a:ext>
            </a:extLst>
          </p:cNvPr>
          <p:cNvSpPr>
            <a:spLocks noGrp="1"/>
          </p:cNvSpPr>
          <p:nvPr/>
        </p:nvSpPr>
        <p:spPr>
          <a:xfrm>
            <a:off x="6286500" y="3524250"/>
            <a:ext cx="2000250" cy="2667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AI syllabus map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17A5FE-5D8C-43E6-B664-B24EF5D05D3F}"/>
              </a:ext>
            </a:extLst>
          </p:cNvPr>
          <p:cNvSpPr>
            <a:spLocks noGrp="1"/>
          </p:cNvSpPr>
          <p:nvPr/>
        </p:nvSpPr>
        <p:spPr>
          <a:xfrm>
            <a:off x="6286500" y="3867150"/>
            <a:ext cx="2095500" cy="4762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C8D2D8"/>
                </a:solidFill>
                <a:latin typeface="Arial"/>
                <a:ea typeface="Arial"/>
                <a:cs typeface="Arial"/>
              </a:defRPr>
            </a:pPr>
            <a:r>
              <a:t>PDF topic extraction and semester checklist.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446B20-EC93-499D-BE11-E75CC8A1698B}"/>
              </a:ext>
            </a:extLst>
          </p:cNvPr>
          <p:cNvSpPr>
            <a:spLocks noGrp="1"/>
          </p:cNvSpPr>
          <p:nvPr/>
        </p:nvSpPr>
        <p:spPr>
          <a:xfrm>
            <a:off x="9315450" y="3143250"/>
            <a:ext cx="2095500" cy="19050"/>
          </a:xfrm>
          <a:prstGeom prst="rect">
            <a:avLst/>
          </a:prstGeom>
          <a:solidFill>
            <a:srgbClr val="52606B"/>
          </a:solidFill>
          <a:ln w="0">
            <a:solidFill>
              <a:srgbClr val="5260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3B30F70-08FD-49E5-8686-592F338DC89B}"/>
              </a:ext>
            </a:extLst>
          </p:cNvPr>
          <p:cNvSpPr>
            <a:spLocks noGrp="1"/>
          </p:cNvSpPr>
          <p:nvPr/>
        </p:nvSpPr>
        <p:spPr>
          <a:xfrm>
            <a:off x="9010650" y="2609850"/>
            <a:ext cx="609600" cy="609600"/>
          </a:xfrm>
          <a:prstGeom prst="roundRect">
            <a:avLst/>
          </a:prstGeom>
          <a:solidFill>
            <a:srgbClr val="2A3742"/>
          </a:solidFill>
          <a:ln w="9525">
            <a:solidFill>
              <a:srgbClr val="5260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E45199-BA46-44B9-83D7-5054C8EE9130}"/>
              </a:ext>
            </a:extLst>
          </p:cNvPr>
          <p:cNvSpPr>
            <a:spLocks noGrp="1"/>
          </p:cNvSpPr>
          <p:nvPr/>
        </p:nvSpPr>
        <p:spPr>
          <a:xfrm>
            <a:off x="9163050" y="2724150"/>
            <a:ext cx="304800" cy="266700"/>
          </a:xfrm>
          <a:prstGeom prst="rect">
            <a:avLst/>
          </a:prstGeom>
          <a:solidFill>
            <a:srgbClr val="2A3742"/>
          </a:solidFill>
          <a:ln w="0">
            <a:solidFill>
              <a:srgbClr val="2A3742"/>
            </a:solidFill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C11241-8F09-41C5-9D8D-018D3DEBCA04}"/>
              </a:ext>
            </a:extLst>
          </p:cNvPr>
          <p:cNvSpPr>
            <a:spLocks noGrp="1"/>
          </p:cNvSpPr>
          <p:nvPr/>
        </p:nvSpPr>
        <p:spPr>
          <a:xfrm>
            <a:off x="9010650" y="3524250"/>
            <a:ext cx="2000250" cy="2667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Class insight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82EF26-81EF-4B76-99A0-1803C4845E8B}"/>
              </a:ext>
            </a:extLst>
          </p:cNvPr>
          <p:cNvSpPr>
            <a:spLocks noGrp="1"/>
          </p:cNvSpPr>
          <p:nvPr/>
        </p:nvSpPr>
        <p:spPr>
          <a:xfrm>
            <a:off x="9010650" y="3867150"/>
            <a:ext cx="2095500" cy="47625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C8D2D8"/>
                </a:solidFill>
                <a:latin typeface="Arial"/>
                <a:ea typeface="Arial"/>
                <a:cs typeface="Arial"/>
              </a:defRPr>
            </a:pPr>
            <a:r>
              <a:t>Optional aggregate view for teaching teams.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B042A60-211A-4AFA-AE63-FFC9248731E0}"/>
              </a:ext>
            </a:extLst>
          </p:cNvPr>
          <p:cNvSpPr>
            <a:spLocks noGrp="1"/>
          </p:cNvSpPr>
          <p:nvPr/>
        </p:nvSpPr>
        <p:spPr>
          <a:xfrm>
            <a:off x="2343150" y="5257800"/>
            <a:ext cx="7505700" cy="476250"/>
          </a:xfrm>
          <a:prstGeom prst="roundRect">
            <a:avLst/>
          </a:prstGeom>
          <a:solidFill>
            <a:srgbClr val="22313D"/>
          </a:solidFill>
          <a:ln w="0">
            <a:solidFill>
              <a:srgbClr val="22313D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74DB62-B0ED-4396-8171-ABE8BBCC456B}"/>
              </a:ext>
            </a:extLst>
          </p:cNvPr>
          <p:cNvSpPr>
            <a:spLocks noGrp="1"/>
          </p:cNvSpPr>
          <p:nvPr/>
        </p:nvSpPr>
        <p:spPr>
          <a:xfrm>
            <a:off x="2590800" y="5353050"/>
            <a:ext cx="7010400" cy="266700"/>
          </a:xfrm>
          <a:prstGeom prst="rect">
            <a:avLst/>
          </a:prstGeom>
          <a:solidFill>
            <a:srgbClr val="22313D"/>
          </a:solidFill>
          <a:ln w="0">
            <a:solidFill>
              <a:srgbClr val="22313D"/>
            </a:solidFill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Strategic promise: make understanding gaps visible early enough to act.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564EB1-78C4-4048-8468-F78A38FC2460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7048500" cy="2286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l">
              <a:defRPr sz="750" b="0" i="0">
                <a:solidFill>
                  <a:srgbClr val="AEB7BF"/>
                </a:solidFill>
                <a:latin typeface="Arial"/>
                <a:ea typeface="Arial"/>
                <a:cs typeface="Arial"/>
              </a:defRPr>
            </a:pPr>
            <a:r>
              <a:t>Source: GapTracker research materials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81AAF7-5A0E-4A1F-B81E-7763F2B203BC}"/>
              </a:ext>
            </a:extLst>
          </p:cNvPr>
          <p:cNvSpPr>
            <a:spLocks noGrp="1"/>
          </p:cNvSpPr>
          <p:nvPr/>
        </p:nvSpPr>
        <p:spPr>
          <a:xfrm>
            <a:off x="11125200" y="6381750"/>
            <a:ext cx="457200" cy="228600"/>
          </a:xfrm>
          <a:prstGeom prst="rect">
            <a:avLst/>
          </a:prstGeom>
          <a:solidFill>
            <a:srgbClr val="17212B"/>
          </a:solidFill>
          <a:ln w="0">
            <a:solidFill>
              <a:srgbClr val="17212B"/>
            </a:solidFill>
            <a:prstDash val="solid"/>
          </a:ln>
        </p:spPr>
        <p:txBody>
          <a:bodyPr anchor="t"/>
          <a:lstStyle/>
          <a:p>
            <a:pPr algn="r">
              <a:defRPr sz="750" b="0" i="0">
                <a:solidFill>
                  <a:srgbClr val="AEB7BF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81287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Macintosh PowerPoint</Application>
  <DocSecurity>0</DocSecurity>
  <PresentationFormat>Widescreen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Ehab Marrid</cp:lastModifiedBy>
  <cp:revision>1</cp:revision>
  <dcterms:created xsi:type="dcterms:W3CDTF">2026-06-13T08:58:05Z</dcterms:created>
  <dcterms:modified xsi:type="dcterms:W3CDTF">2026-06-13T09:07:04Z</dcterms:modified>
</cp:coreProperties>
</file>